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87" r:id="rId3"/>
    <p:sldId id="257" r:id="rId4"/>
    <p:sldId id="286" r:id="rId5"/>
    <p:sldId id="278" r:id="rId6"/>
    <p:sldId id="260" r:id="rId7"/>
    <p:sldId id="279" r:id="rId8"/>
    <p:sldId id="280" r:id="rId9"/>
    <p:sldId id="288" r:id="rId10"/>
    <p:sldId id="281" r:id="rId11"/>
    <p:sldId id="282"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1" d="100"/>
          <a:sy n="91" d="100"/>
        </p:scale>
        <p:origin x="322" y="67"/>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b="1" cap="all" spc="1500" baseline="0">
                <a:latin typeface="+mj-lt"/>
                <a:ea typeface="Source Sans Pro SemiBold" panose="020B0603030403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cap="all" spc="4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grpSp>
        <p:nvGrpSpPr>
          <p:cNvPr id="7" name="Graphic 185"/>
          <p:cNvGrpSpPr/>
          <p:nvPr/>
        </p:nvGrpSpPr>
        <p:grpSpPr>
          <a:xfrm>
            <a:off x="10999563" y="5987064"/>
            <a:ext cx="1054467" cy="469689"/>
            <a:chOff x="9841624" y="4115729"/>
            <a:chExt cx="602170" cy="268223"/>
          </a:xfrm>
          <a:solidFill>
            <a:schemeClr val="tx1"/>
          </a:solidFill>
        </p:grpSpPr>
        <p:sp>
          <p:nvSpPr>
            <p:cNvPr id="8" name="Freeform: Shape 7"/>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p:cNvSpPr>
            <a:spLocks noGrp="1"/>
          </p:cNvSpPr>
          <p:nvPr>
            <p:ph type="dt" sz="half" idx="10"/>
          </p:nvPr>
        </p:nvSpPr>
        <p:spPr/>
        <p:txBody>
          <a:bodyPr/>
          <a:lstStyle/>
          <a:p>
            <a:fld id="{97BFF81C-1FCB-4DBA-8044-F1A0FCFD45A6}" type="datetime1">
              <a:rPr lang="en-US" smtClean="0"/>
              <a:t>9/5/2022</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p:cNvGrpSpPr/>
          <p:nvPr/>
        </p:nvGrpSpPr>
        <p:grpSpPr>
          <a:xfrm>
            <a:off x="10999563" y="5987064"/>
            <a:ext cx="1054467" cy="469689"/>
            <a:chOff x="9841624" y="4115729"/>
            <a:chExt cx="602170" cy="268223"/>
          </a:xfrm>
          <a:solidFill>
            <a:schemeClr val="tx1"/>
          </a:solidFill>
        </p:grpSpPr>
        <p:sp>
          <p:nvSpPr>
            <p:cNvPr id="9" name="Freeform: Shape 8"/>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p:cNvSpPr>
            <a:spLocks noGrp="1"/>
          </p:cNvSpPr>
          <p:nvPr>
            <p:ph type="dt" sz="half" idx="10"/>
          </p:nvPr>
        </p:nvSpPr>
        <p:spPr/>
        <p:txBody>
          <a:bodyPr/>
          <a:lstStyle/>
          <a:p>
            <a:fld id="{5A87773D-8987-489A-A650-3D6F7D5C7C38}" type="datetime1">
              <a:rPr lang="en-US" smtClean="0"/>
              <a:t>9/5/2022</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grpSp>
        <p:nvGrpSpPr>
          <p:cNvPr id="7" name="Graphic 185"/>
          <p:cNvGrpSpPr/>
          <p:nvPr/>
        </p:nvGrpSpPr>
        <p:grpSpPr>
          <a:xfrm>
            <a:off x="10999563" y="5987064"/>
            <a:ext cx="1054467" cy="469689"/>
            <a:chOff x="9841624" y="4115729"/>
            <a:chExt cx="602170" cy="268223"/>
          </a:xfrm>
          <a:solidFill>
            <a:schemeClr val="tx1"/>
          </a:solidFill>
        </p:grpSpPr>
        <p:sp>
          <p:nvSpPr>
            <p:cNvPr id="8" name="Freeform: Shape 7"/>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p:cNvSpPr>
            <a:spLocks noGrp="1"/>
          </p:cNvSpPr>
          <p:nvPr>
            <p:ph type="dt" sz="half" idx="10"/>
          </p:nvPr>
        </p:nvSpPr>
        <p:spPr/>
        <p:txBody>
          <a:bodyPr/>
          <a:lstStyle/>
          <a:p>
            <a:fld id="{97E150C1-1D78-4D80-810D-E9E86F6E88AB}" type="datetime1">
              <a:rPr lang="en-US" smtClean="0"/>
              <a:t>9/5/2022</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8" name="Graphic 185"/>
          <p:cNvGrpSpPr/>
          <p:nvPr/>
        </p:nvGrpSpPr>
        <p:grpSpPr>
          <a:xfrm>
            <a:off x="10999563" y="5987064"/>
            <a:ext cx="1054467" cy="469689"/>
            <a:chOff x="9841624" y="4115729"/>
            <a:chExt cx="602170" cy="268223"/>
          </a:xfrm>
          <a:solidFill>
            <a:schemeClr val="tx1"/>
          </a:solidFill>
        </p:grpSpPr>
        <p:sp>
          <p:nvSpPr>
            <p:cNvPr id="9" name="Freeform: Shape 8"/>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p:cNvSpPr>
            <a:spLocks noGrp="1"/>
          </p:cNvSpPr>
          <p:nvPr>
            <p:ph type="dt" sz="half" idx="10"/>
          </p:nvPr>
        </p:nvSpPr>
        <p:spPr/>
        <p:txBody>
          <a:bodyPr/>
          <a:lstStyle/>
          <a:p>
            <a:fld id="{29E9CBD8-1588-4B6B-B74D-87480DDE94C0}" type="datetime1">
              <a:rPr lang="en-US" smtClean="0"/>
              <a:t>9/5/2022</a:t>
            </a:fld>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10" name="Graphic 185"/>
          <p:cNvGrpSpPr/>
          <p:nvPr/>
        </p:nvGrpSpPr>
        <p:grpSpPr>
          <a:xfrm>
            <a:off x="10999563" y="5987064"/>
            <a:ext cx="1054467" cy="469689"/>
            <a:chOff x="9841624" y="4115729"/>
            <a:chExt cx="602170" cy="268223"/>
          </a:xfrm>
          <a:solidFill>
            <a:schemeClr val="tx1"/>
          </a:solidFill>
        </p:grpSpPr>
        <p:sp>
          <p:nvSpPr>
            <p:cNvPr id="11" name="Freeform: Shape 10"/>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4" name="Freeform: Shape 13"/>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5" name="Freeform: Shape 14"/>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7" name="Date Placeholder 6"/>
          <p:cNvSpPr>
            <a:spLocks noGrp="1"/>
          </p:cNvSpPr>
          <p:nvPr>
            <p:ph type="dt" sz="half" idx="10"/>
          </p:nvPr>
        </p:nvSpPr>
        <p:spPr/>
        <p:txBody>
          <a:bodyPr/>
          <a:lstStyle/>
          <a:p>
            <a:fld id="{AD794440-721C-4D75-BD4F-4CFB3D51CDCA}" type="datetime1">
              <a:rPr lang="en-US" smtClean="0"/>
              <a:t>9/5/2022</a:t>
            </a:fld>
            <a:endParaRPr lang="en-US" dirty="0"/>
          </a:p>
        </p:txBody>
      </p:sp>
      <p:sp>
        <p:nvSpPr>
          <p:cNvPr id="8" name="Footer Placeholder 7"/>
          <p:cNvSpPr>
            <a:spLocks noGrp="1"/>
          </p:cNvSpPr>
          <p:nvPr>
            <p:ph type="ftr" sz="quarter" idx="11"/>
          </p:nvPr>
        </p:nvSpPr>
        <p:spPr/>
        <p:txBody>
          <a:bodyPr/>
          <a:lstStyle/>
          <a:p>
            <a:r>
              <a:rPr lang="en-US" dirty="0"/>
              <a:t>Sample Footer Text</a:t>
            </a:r>
          </a:p>
        </p:txBody>
      </p:sp>
      <p:sp>
        <p:nvSpPr>
          <p:cNvPr id="9" name="Slide Number Placeholder 8"/>
          <p:cNvSpPr>
            <a:spLocks noGrp="1"/>
          </p:cNvSpPr>
          <p:nvPr>
            <p:ph type="sldNum" sz="quarter" idx="12"/>
          </p:nvPr>
        </p:nvSpPr>
        <p:spPr/>
        <p:txBody>
          <a:bodyPr/>
          <a:lstStyle/>
          <a:p>
            <a:fld id="{F3450C42-9A0B-4425-92C2-70FCF7C45734}" type="slidenum">
              <a:rPr lang="en-US" smtClean="0"/>
              <a:t>‹#›</a:t>
            </a:fld>
            <a:endParaRPr lang="en-US" dirty="0"/>
          </a:p>
        </p:txBody>
      </p:sp>
      <p:sp>
        <p:nvSpPr>
          <p:cNvPr id="17" name="Oval 16"/>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grpSp>
        <p:nvGrpSpPr>
          <p:cNvPr id="6" name="Graphic 185"/>
          <p:cNvGrpSpPr/>
          <p:nvPr/>
        </p:nvGrpSpPr>
        <p:grpSpPr>
          <a:xfrm>
            <a:off x="10999563" y="5987064"/>
            <a:ext cx="1054467" cy="469689"/>
            <a:chOff x="9841624" y="4115729"/>
            <a:chExt cx="602170" cy="268223"/>
          </a:xfrm>
          <a:solidFill>
            <a:schemeClr val="tx1"/>
          </a:solidFill>
        </p:grpSpPr>
        <p:sp>
          <p:nvSpPr>
            <p:cNvPr id="7" name="Freeform: Shape 6"/>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3" name="Date Placeholder 2"/>
          <p:cNvSpPr>
            <a:spLocks noGrp="1"/>
          </p:cNvSpPr>
          <p:nvPr>
            <p:ph type="dt" sz="half" idx="10"/>
          </p:nvPr>
        </p:nvSpPr>
        <p:spPr/>
        <p:txBody>
          <a:bodyPr/>
          <a:lstStyle/>
          <a:p>
            <a:fld id="{B2701A64-483B-4532-94FB-D8F90CB6DEE0}" type="datetime1">
              <a:rPr lang="en-US" smtClean="0"/>
              <a:t>9/5/2022</a:t>
            </a:fld>
            <a:endParaRPr lang="en-US" dirty="0"/>
          </a:p>
        </p:txBody>
      </p:sp>
      <p:sp>
        <p:nvSpPr>
          <p:cNvPr id="4" name="Footer Placeholder 3"/>
          <p:cNvSpPr>
            <a:spLocks noGrp="1"/>
          </p:cNvSpPr>
          <p:nvPr>
            <p:ph type="ftr" sz="quarter" idx="11"/>
          </p:nvPr>
        </p:nvSpPr>
        <p:spPr/>
        <p:txBody>
          <a:bodyPr/>
          <a:lstStyle/>
          <a:p>
            <a:r>
              <a:rPr lang="en-US" dirty="0"/>
              <a:t>Sample Footer Text</a:t>
            </a:r>
          </a:p>
        </p:txBody>
      </p:sp>
      <p:sp>
        <p:nvSpPr>
          <p:cNvPr id="5" name="Slide Number Placeholder 4"/>
          <p:cNvSpPr>
            <a:spLocks noGrp="1"/>
          </p:cNvSpPr>
          <p:nvPr>
            <p:ph type="sldNum" sz="quarter" idx="12"/>
          </p:nvPr>
        </p:nvSpPr>
        <p:spPr/>
        <p:txBody>
          <a:bodyPr/>
          <a:lstStyle/>
          <a:p>
            <a:fld id="{F3450C42-9A0B-4425-92C2-70FCF7C45734}" type="slidenum">
              <a:rPr lang="en-US" smtClean="0"/>
              <a:t>‹#›</a:t>
            </a:fld>
            <a:endParaRPr lang="en-US" dirty="0"/>
          </a:p>
        </p:txBody>
      </p:sp>
      <p:sp>
        <p:nvSpPr>
          <p:cNvPr id="13" name="Oval 12"/>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grpSp>
        <p:nvGrpSpPr>
          <p:cNvPr id="5" name="Graphic 185"/>
          <p:cNvGrpSpPr/>
          <p:nvPr/>
        </p:nvGrpSpPr>
        <p:grpSpPr>
          <a:xfrm>
            <a:off x="10999563" y="5987064"/>
            <a:ext cx="1054467" cy="469689"/>
            <a:chOff x="9841624" y="4115729"/>
            <a:chExt cx="602170" cy="268223"/>
          </a:xfrm>
          <a:solidFill>
            <a:schemeClr val="tx1"/>
          </a:solidFill>
        </p:grpSpPr>
        <p:sp>
          <p:nvSpPr>
            <p:cNvPr id="6" name="Freeform: Shape 5"/>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7" name="Freeform: Shape 6"/>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8" name="Freeform: Shape 7"/>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2" name="Date Placeholder 1"/>
          <p:cNvSpPr>
            <a:spLocks noGrp="1"/>
          </p:cNvSpPr>
          <p:nvPr>
            <p:ph type="dt" sz="half" idx="10"/>
          </p:nvPr>
        </p:nvSpPr>
        <p:spPr/>
        <p:txBody>
          <a:bodyPr/>
          <a:lstStyle/>
          <a:p>
            <a:fld id="{6F18FB39-20FB-4E2E-B861-45B709B9C3C5}" type="datetime1">
              <a:rPr lang="en-US" smtClean="0"/>
              <a:t>9/5/2022</a:t>
            </a:fld>
            <a:endParaRPr lang="en-US" dirty="0"/>
          </a:p>
        </p:txBody>
      </p:sp>
      <p:sp>
        <p:nvSpPr>
          <p:cNvPr id="3" name="Footer Placeholder 2"/>
          <p:cNvSpPr>
            <a:spLocks noGrp="1"/>
          </p:cNvSpPr>
          <p:nvPr>
            <p:ph type="ftr" sz="quarter" idx="11"/>
          </p:nvPr>
        </p:nvSpPr>
        <p:spPr/>
        <p:txBody>
          <a:bodyPr/>
          <a:lstStyle/>
          <a:p>
            <a:r>
              <a:rPr lang="en-US" dirty="0"/>
              <a:t>Sample Footer Text</a:t>
            </a:r>
          </a:p>
        </p:txBody>
      </p:sp>
      <p:sp>
        <p:nvSpPr>
          <p:cNvPr id="4" name="Slide Number Placeholder 3"/>
          <p:cNvSpPr>
            <a:spLocks noGrp="1"/>
          </p:cNvSpPr>
          <p:nvPr>
            <p:ph type="sldNum" sz="quarter" idx="12"/>
          </p:nvPr>
        </p:nvSpPr>
        <p:spPr/>
        <p:txBody>
          <a:bodyPr/>
          <a:lstStyle/>
          <a:p>
            <a:fld id="{F3450C42-9A0B-4425-92C2-70FCF7C45734}" type="slidenum">
              <a:rPr lang="en-US" smtClean="0"/>
              <a:t>‹#›</a:t>
            </a:fld>
            <a:endParaRPr lang="en-US" dirty="0"/>
          </a:p>
        </p:txBody>
      </p:sp>
      <p:sp>
        <p:nvSpPr>
          <p:cNvPr id="12" name="Oval 11"/>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p:cNvGrpSpPr/>
          <p:nvPr/>
        </p:nvGrpSpPr>
        <p:grpSpPr>
          <a:xfrm>
            <a:off x="10999563" y="5987064"/>
            <a:ext cx="1054467" cy="469689"/>
            <a:chOff x="9841624" y="4115729"/>
            <a:chExt cx="602170" cy="268223"/>
          </a:xfrm>
          <a:solidFill>
            <a:schemeClr val="tx1"/>
          </a:solidFill>
        </p:grpSpPr>
        <p:sp>
          <p:nvSpPr>
            <p:cNvPr id="9" name="Freeform: Shape 8"/>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p:cNvSpPr>
            <a:spLocks noGrp="1"/>
          </p:cNvSpPr>
          <p:nvPr>
            <p:ph type="dt" sz="half" idx="10"/>
          </p:nvPr>
        </p:nvSpPr>
        <p:spPr/>
        <p:txBody>
          <a:bodyPr/>
          <a:lstStyle/>
          <a:p>
            <a:fld id="{AC48AC19-8BD6-476C-9770-8884373BCF00}" type="datetime1">
              <a:rPr lang="en-US" smtClean="0"/>
              <a:t>9/5/2022</a:t>
            </a:fld>
            <a:endParaRPr lang="en-US"/>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grpSp>
        <p:nvGrpSpPr>
          <p:cNvPr id="8" name="Graphic 185"/>
          <p:cNvGrpSpPr/>
          <p:nvPr/>
        </p:nvGrpSpPr>
        <p:grpSpPr>
          <a:xfrm>
            <a:off x="10999563" y="5987064"/>
            <a:ext cx="1054467" cy="469689"/>
            <a:chOff x="9841624" y="4115729"/>
            <a:chExt cx="602170" cy="268223"/>
          </a:xfrm>
          <a:solidFill>
            <a:schemeClr val="tx1"/>
          </a:solidFill>
        </p:grpSpPr>
        <p:sp>
          <p:nvSpPr>
            <p:cNvPr id="9" name="Freeform: Shape 8"/>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3" name="Freeform: Shape 12"/>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5" name="Date Placeholder 4"/>
          <p:cNvSpPr>
            <a:spLocks noGrp="1"/>
          </p:cNvSpPr>
          <p:nvPr>
            <p:ph type="dt" sz="half" idx="10"/>
          </p:nvPr>
        </p:nvSpPr>
        <p:spPr/>
        <p:txBody>
          <a:bodyPr/>
          <a:lstStyle/>
          <a:p>
            <a:fld id="{F3F68C53-8AD1-4F09-9486-FB3406B99CFA}" type="datetime1">
              <a:rPr lang="en-US" smtClean="0"/>
              <a:t>9/5/2022</a:t>
            </a:fld>
            <a:endParaRPr lang="en-US" dirty="0"/>
          </a:p>
        </p:txBody>
      </p:sp>
      <p:sp>
        <p:nvSpPr>
          <p:cNvPr id="6" name="Footer Placeholder 5"/>
          <p:cNvSpPr>
            <a:spLocks noGrp="1"/>
          </p:cNvSpPr>
          <p:nvPr>
            <p:ph type="ftr" sz="quarter" idx="11"/>
          </p:nvPr>
        </p:nvSpPr>
        <p:spPr/>
        <p:txBody>
          <a:bodyPr/>
          <a:lstStyle/>
          <a:p>
            <a:r>
              <a:rPr lang="en-US" dirty="0"/>
              <a:t>Sample Footer Text</a:t>
            </a:r>
          </a:p>
        </p:txBody>
      </p:sp>
      <p:sp>
        <p:nvSpPr>
          <p:cNvPr id="7" name="Slide Number Placeholder 6"/>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p:cNvGrpSpPr/>
          <p:nvPr/>
        </p:nvGrpSpPr>
        <p:grpSpPr>
          <a:xfrm>
            <a:off x="10999563" y="5987064"/>
            <a:ext cx="1054467" cy="469689"/>
            <a:chOff x="9841624" y="4115729"/>
            <a:chExt cx="602170" cy="268223"/>
          </a:xfrm>
          <a:solidFill>
            <a:schemeClr val="tx1"/>
          </a:solidFill>
        </p:grpSpPr>
        <p:sp>
          <p:nvSpPr>
            <p:cNvPr id="8" name="Freeform: Shape 7"/>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p:cNvSpPr>
            <a:spLocks noGrp="1"/>
          </p:cNvSpPr>
          <p:nvPr>
            <p:ph type="dt" sz="half" idx="10"/>
          </p:nvPr>
        </p:nvSpPr>
        <p:spPr/>
        <p:txBody>
          <a:bodyPr/>
          <a:lstStyle/>
          <a:p>
            <a:fld id="{FB9092B3-2D87-4CDF-B84B-C46E5F5D31F7}" type="datetime1">
              <a:rPr lang="en-US" smtClean="0"/>
              <a:t>9/5/2022</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F3450C42-9A0B-4425-92C2-70FCF7C45734}" type="slidenum">
              <a:rPr lang="en-US" smtClean="0"/>
              <a:t>‹#›</a:t>
            </a:fld>
            <a:endParaRPr lang="en-US" dirty="0"/>
          </a:p>
        </p:txBody>
      </p:sp>
      <p:sp>
        <p:nvSpPr>
          <p:cNvPr id="15" name="Oval 14"/>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7" name="Graphic 185"/>
          <p:cNvGrpSpPr/>
          <p:nvPr/>
        </p:nvGrpSpPr>
        <p:grpSpPr>
          <a:xfrm>
            <a:off x="10999563" y="5987064"/>
            <a:ext cx="1054467" cy="469689"/>
            <a:chOff x="9841624" y="4115729"/>
            <a:chExt cx="602170" cy="268223"/>
          </a:xfrm>
          <a:solidFill>
            <a:schemeClr val="tx1"/>
          </a:solidFill>
        </p:grpSpPr>
        <p:sp>
          <p:nvSpPr>
            <p:cNvPr id="8" name="Freeform: Shape 7"/>
            <p:cNvSpPr/>
            <p:nvPr/>
          </p:nvSpPr>
          <p:spPr>
            <a:xfrm>
              <a:off x="9841624"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9" name="Freeform: Shape 8"/>
            <p:cNvSpPr/>
            <p:nvPr/>
          </p:nvSpPr>
          <p:spPr>
            <a:xfrm>
              <a:off x="9941445" y="4115729"/>
              <a:ext cx="202882" cy="268223"/>
            </a:xfrm>
            <a:custGeom>
              <a:avLst/>
              <a:gdLst>
                <a:gd name="connsiteX0" fmla="*/ 20765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765"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0" name="Freeform: Shape 9"/>
            <p:cNvSpPr/>
            <p:nvPr/>
          </p:nvSpPr>
          <p:spPr>
            <a:xfrm>
              <a:off x="10041267"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1" name="Freeform: Shape 10"/>
            <p:cNvSpPr/>
            <p:nvPr/>
          </p:nvSpPr>
          <p:spPr>
            <a:xfrm>
              <a:off x="10141090"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sp>
          <p:nvSpPr>
            <p:cNvPr id="12" name="Freeform: Shape 11"/>
            <p:cNvSpPr/>
            <p:nvPr/>
          </p:nvSpPr>
          <p:spPr>
            <a:xfrm>
              <a:off x="10240911" y="4115729"/>
              <a:ext cx="202882" cy="268223"/>
            </a:xfrm>
            <a:custGeom>
              <a:avLst/>
              <a:gdLst>
                <a:gd name="connsiteX0" fmla="*/ 20669 w 202882"/>
                <a:gd name="connsiteY0" fmla="*/ 268224 h 268223"/>
                <a:gd name="connsiteX1" fmla="*/ 0 w 202882"/>
                <a:gd name="connsiteY1" fmla="*/ 268224 h 268223"/>
                <a:gd name="connsiteX2" fmla="*/ 182118 w 202882"/>
                <a:gd name="connsiteY2" fmla="*/ 0 h 268223"/>
                <a:gd name="connsiteX3" fmla="*/ 202883 w 202882"/>
                <a:gd name="connsiteY3" fmla="*/ 0 h 268223"/>
              </a:gdLst>
              <a:ahLst/>
              <a:cxnLst>
                <a:cxn ang="0">
                  <a:pos x="connsiteX0" y="connsiteY0"/>
                </a:cxn>
                <a:cxn ang="0">
                  <a:pos x="connsiteX1" y="connsiteY1"/>
                </a:cxn>
                <a:cxn ang="0">
                  <a:pos x="connsiteX2" y="connsiteY2"/>
                </a:cxn>
                <a:cxn ang="0">
                  <a:pos x="connsiteX3" y="connsiteY3"/>
                </a:cxn>
              </a:cxnLst>
              <a:rect l="l" t="t" r="r" b="b"/>
              <a:pathLst>
                <a:path w="202882" h="268223">
                  <a:moveTo>
                    <a:pt x="20669" y="268224"/>
                  </a:moveTo>
                  <a:lnTo>
                    <a:pt x="0" y="268224"/>
                  </a:lnTo>
                  <a:lnTo>
                    <a:pt x="182118" y="0"/>
                  </a:lnTo>
                  <a:lnTo>
                    <a:pt x="202883" y="0"/>
                  </a:lnTo>
                  <a:close/>
                </a:path>
              </a:pathLst>
            </a:custGeom>
            <a:grpFill/>
            <a:ln w="9525" cap="flat">
              <a:noFill/>
              <a:prstDash val="solid"/>
              <a:miter/>
            </a:ln>
          </p:spPr>
          <p:txBody>
            <a:bodyPr rtlCol="0" anchor="ctr"/>
            <a:lstStyle/>
            <a:p>
              <a:endParaRPr lang="en-US"/>
            </a:p>
          </p:txBody>
        </p:sp>
      </p:grpSp>
      <p:sp>
        <p:nvSpPr>
          <p:cNvPr id="4" name="Date Placeholder 3"/>
          <p:cNvSpPr>
            <a:spLocks noGrp="1"/>
          </p:cNvSpPr>
          <p:nvPr>
            <p:ph type="dt" sz="half" idx="10"/>
          </p:nvPr>
        </p:nvSpPr>
        <p:spPr/>
        <p:txBody>
          <a:bodyPr/>
          <a:lstStyle/>
          <a:p>
            <a:fld id="{3D769E57-47B1-47B0-B526-3153E4B1E729}" type="datetime1">
              <a:rPr lang="en-US" smtClean="0"/>
              <a:t>9/5/2022</a:t>
            </a:fld>
            <a:endParaRPr lang="en-US" dirty="0"/>
          </a:p>
        </p:txBody>
      </p:sp>
      <p:sp>
        <p:nvSpPr>
          <p:cNvPr id="5" name="Footer Placeholder 4"/>
          <p:cNvSpPr>
            <a:spLocks noGrp="1"/>
          </p:cNvSpPr>
          <p:nvPr>
            <p:ph type="ftr" sz="quarter" idx="11"/>
          </p:nvPr>
        </p:nvSpPr>
        <p:spPr/>
        <p:txBody>
          <a:bodyPr/>
          <a:lstStyle/>
          <a:p>
            <a:r>
              <a:rPr lang="en-US" dirty="0"/>
              <a:t>Sample Footer Text</a:t>
            </a:r>
          </a:p>
        </p:txBody>
      </p:sp>
      <p:sp>
        <p:nvSpPr>
          <p:cNvPr id="6" name="Slide Number Placeholder 5"/>
          <p:cNvSpPr>
            <a:spLocks noGrp="1"/>
          </p:cNvSpPr>
          <p:nvPr>
            <p:ph type="sldNum" sz="quarter" idx="12"/>
          </p:nvPr>
        </p:nvSpPr>
        <p:spPr/>
        <p:txBody>
          <a:bodyPr/>
          <a:lstStyle/>
          <a:p>
            <a:fld id="{F3450C42-9A0B-4425-92C2-70FCF7C45734}" type="slidenum">
              <a:rPr lang="en-US" smtClean="0"/>
              <a:t>‹#›</a:t>
            </a:fld>
            <a:endParaRPr lang="en-US" dirty="0"/>
          </a:p>
        </p:txBody>
      </p:sp>
      <p:sp>
        <p:nvSpPr>
          <p:cNvPr id="14" name="Oval 13"/>
          <p:cNvSpPr/>
          <p:nvPr/>
        </p:nvSpPr>
        <p:spPr>
          <a:xfrm>
            <a:off x="320736" y="652894"/>
            <a:ext cx="319941" cy="319941"/>
          </a:xfrm>
          <a:prstGeom prst="ellipse">
            <a:avLst/>
          </a:prstGeom>
          <a:solidFill>
            <a:schemeClr val="accent3">
              <a:lumMod val="20000"/>
              <a:lumOff val="80000"/>
            </a:schemeClr>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1" cap="all" spc="100" baseline="0">
                <a:solidFill>
                  <a:schemeClr val="tx1">
                    <a:tint val="75000"/>
                  </a:schemeClr>
                </a:solidFill>
                <a:latin typeface="+mn-lt"/>
                <a:ea typeface="Source Sans Pro SemiBold" panose="020B0603030403020204" pitchFamily="34" charset="0"/>
              </a:defRPr>
            </a:lvl1pPr>
          </a:lstStyle>
          <a:p>
            <a:fld id="{BA543EDD-D0D2-447F-B24F-3717AF4B109D}" type="datetime1">
              <a:rPr lang="en-US" smtClean="0"/>
              <a:t>9/5/2022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1" cap="all" spc="100" baseline="0">
                <a:solidFill>
                  <a:schemeClr val="tx1">
                    <a:tint val="75000"/>
                  </a:schemeClr>
                </a:solidFill>
                <a:latin typeface="+mn-lt"/>
                <a:ea typeface="Source Sans Pro SemiBold" panose="020B0603030403020204" pitchFamily="34" charset="0"/>
              </a:defRPr>
            </a:lvl1pPr>
          </a:lstStyle>
          <a:p>
            <a:r>
              <a:rPr lang="en-US" dirty="0"/>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b="1" cap="all" spc="100" baseline="0">
                <a:solidFill>
                  <a:schemeClr val="tx1">
                    <a:tint val="75000"/>
                  </a:schemeClr>
                </a:solidFill>
                <a:latin typeface="+mn-lt"/>
                <a:ea typeface="Source Sans Pro SemiBold" panose="020B0603030403020204" pitchFamily="34" charset="0"/>
              </a:defRPr>
            </a:lvl1pPr>
          </a:lstStyle>
          <a:p>
            <a:fld id="{F3450C42-9A0B-4425-92C2-70FCF7C45734}"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1216404"/>
            <a:ext cx="12191999" cy="830997"/>
          </a:xfrm>
          <a:prstGeom prst="rect">
            <a:avLst/>
          </a:prstGeom>
          <a:noFill/>
        </p:spPr>
        <p:txBody>
          <a:bodyPr wrap="square" rtlCol="0" anchor="ctr">
            <a:spAutoFit/>
          </a:bodyPr>
          <a:lstStyle/>
          <a:p>
            <a:pPr algn="ctr"/>
            <a:r>
              <a:rPr lang="en-GB" sz="4800" dirty="0">
                <a:solidFill>
                  <a:srgbClr val="002060"/>
                </a:solidFill>
                <a:latin typeface="Times New Roman" panose="02020603050405020304" pitchFamily="18" charset="0"/>
                <a:cs typeface="Times New Roman" panose="02020603050405020304" pitchFamily="18" charset="0"/>
              </a:rPr>
              <a:t>STORES TO DOOR</a:t>
            </a:r>
            <a:endParaRPr lang="en-IN" sz="4800" dirty="0">
              <a:solidFill>
                <a:srgbClr val="002060"/>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593908" y="2967065"/>
            <a:ext cx="3389152" cy="646331"/>
          </a:xfrm>
          <a:prstGeom prst="rect">
            <a:avLst/>
          </a:prstGeom>
          <a:noFill/>
        </p:spPr>
        <p:txBody>
          <a:bodyPr wrap="square" rtlCol="0">
            <a:spAutoFit/>
          </a:bodyPr>
          <a:lstStyle/>
          <a:p>
            <a:r>
              <a:rPr lang="en-US" b="1" dirty="0">
                <a:latin typeface="Calibri" panose="020F0502020204030204" pitchFamily="34" charset="0"/>
                <a:cs typeface="Calibri" panose="020F0502020204030204" pitchFamily="34" charset="0"/>
              </a:rPr>
              <a:t>Guided by :</a:t>
            </a:r>
          </a:p>
          <a:p>
            <a:r>
              <a:rPr lang="en-US" dirty="0">
                <a:latin typeface="Calibri" panose="020F0502020204030204" pitchFamily="34" charset="0"/>
                <a:cs typeface="Calibri" panose="020F0502020204030204" pitchFamily="34" charset="0"/>
              </a:rPr>
              <a:t>MR.M. Raja</a:t>
            </a:r>
          </a:p>
        </p:txBody>
      </p:sp>
      <p:sp>
        <p:nvSpPr>
          <p:cNvPr id="6" name="TextBox 5"/>
          <p:cNvSpPr txBox="1"/>
          <p:nvPr/>
        </p:nvSpPr>
        <p:spPr>
          <a:xfrm>
            <a:off x="8061820" y="2857846"/>
            <a:ext cx="3665989" cy="1354217"/>
          </a:xfrm>
          <a:prstGeom prst="rect">
            <a:avLst/>
          </a:prstGeom>
          <a:noFill/>
        </p:spPr>
        <p:txBody>
          <a:bodyPr wrap="square" rtlCol="0">
            <a:spAutoFit/>
          </a:bodyPr>
          <a:lstStyle/>
          <a:p>
            <a:r>
              <a:rPr lang="en-US" sz="1600" b="1" dirty="0">
                <a:latin typeface="Calibri" panose="020F0502020204030204" pitchFamily="34" charset="0"/>
                <a:cs typeface="Calibri" panose="020F0502020204030204" pitchFamily="34" charset="0"/>
              </a:rPr>
              <a:t>Presented by:</a:t>
            </a:r>
            <a:endParaRPr lang="en-US" sz="1600" dirty="0">
              <a:latin typeface="Calibri" panose="020F0502020204030204" pitchFamily="34" charset="0"/>
              <a:cs typeface="Calibri" panose="020F0502020204030204" pitchFamily="34" charset="0"/>
            </a:endParaRPr>
          </a:p>
          <a:p>
            <a:r>
              <a:rPr lang="en-US" sz="1600" dirty="0">
                <a:latin typeface="Calibri" panose="020F0502020204030204" pitchFamily="34" charset="0"/>
                <a:cs typeface="Calibri" panose="020F0502020204030204" pitchFamily="34" charset="0"/>
              </a:rPr>
              <a:t>M </a:t>
            </a:r>
            <a:r>
              <a:rPr lang="en-US" sz="1600" dirty="0" err="1">
                <a:latin typeface="Calibri" panose="020F0502020204030204" pitchFamily="34" charset="0"/>
                <a:cs typeface="Calibri" panose="020F0502020204030204" pitchFamily="34" charset="0"/>
              </a:rPr>
              <a:t>Jaipal</a:t>
            </a:r>
            <a:r>
              <a:rPr lang="en-US" sz="1600" dirty="0">
                <a:latin typeface="Calibri" panose="020F0502020204030204" pitchFamily="34" charset="0"/>
                <a:cs typeface="Calibri" panose="020F0502020204030204" pitchFamily="34" charset="0"/>
              </a:rPr>
              <a:t> (9919004177)</a:t>
            </a:r>
          </a:p>
          <a:p>
            <a:r>
              <a:rPr lang="en-US" sz="1600" dirty="0">
                <a:latin typeface="Calibri" panose="020F0502020204030204" pitchFamily="34" charset="0"/>
                <a:cs typeface="Calibri" panose="020F0502020204030204" pitchFamily="34" charset="0"/>
              </a:rPr>
              <a:t>S </a:t>
            </a:r>
            <a:r>
              <a:rPr lang="en-US" sz="1600" dirty="0" err="1">
                <a:latin typeface="Calibri" panose="020F0502020204030204" pitchFamily="34" charset="0"/>
                <a:cs typeface="Calibri" panose="020F0502020204030204" pitchFamily="34" charset="0"/>
              </a:rPr>
              <a:t>Likhil</a:t>
            </a:r>
            <a:r>
              <a:rPr lang="en-US" sz="1600" dirty="0">
                <a:latin typeface="Calibri" panose="020F0502020204030204" pitchFamily="34" charset="0"/>
                <a:cs typeface="Calibri" panose="020F0502020204030204" pitchFamily="34" charset="0"/>
              </a:rPr>
              <a:t> Srinivas (9919004269)</a:t>
            </a:r>
          </a:p>
          <a:p>
            <a:r>
              <a:rPr lang="en-US" sz="1600" dirty="0">
                <a:latin typeface="Calibri" panose="020F0502020204030204" pitchFamily="34" charset="0"/>
                <a:cs typeface="Calibri" panose="020F0502020204030204" pitchFamily="34" charset="0"/>
              </a:rPr>
              <a:t>S V Nagendra (9919004270)</a:t>
            </a:r>
          </a:p>
          <a:p>
            <a:r>
              <a:rPr lang="en-US" sz="1600" dirty="0">
                <a:latin typeface="Calibri" panose="020F0502020204030204" pitchFamily="34" charset="0"/>
                <a:cs typeface="Calibri" panose="020F0502020204030204" pitchFamily="34" charset="0"/>
              </a:rPr>
              <a:t>H Nikhil Reddy (9919004106)</a:t>
            </a:r>
          </a:p>
        </p:txBody>
      </p:sp>
      <p:sp>
        <p:nvSpPr>
          <p:cNvPr id="8" name="TextBox 7"/>
          <p:cNvSpPr txBox="1"/>
          <p:nvPr/>
        </p:nvSpPr>
        <p:spPr>
          <a:xfrm>
            <a:off x="0" y="5079534"/>
            <a:ext cx="12191999" cy="584775"/>
          </a:xfrm>
          <a:prstGeom prst="rect">
            <a:avLst/>
          </a:prstGeom>
          <a:noFill/>
        </p:spPr>
        <p:txBody>
          <a:bodyPr wrap="square" rtlCol="0">
            <a:spAutoFit/>
          </a:bodyPr>
          <a:lstStyle/>
          <a:p>
            <a:pPr algn="ctr"/>
            <a:r>
              <a:rPr lang="en-US" sz="1600" dirty="0"/>
              <a:t>Computer Science and Engineering</a:t>
            </a:r>
          </a:p>
          <a:p>
            <a:pPr algn="ctr"/>
            <a:r>
              <a:rPr lang="en-US" sz="1600" dirty="0" err="1"/>
              <a:t>Kalasalingam</a:t>
            </a:r>
            <a:r>
              <a:rPr lang="en-US" sz="1600" dirty="0"/>
              <a:t> Academy of Research and Education</a:t>
            </a:r>
            <a:endParaRPr lang="en-IN" sz="1400" dirty="0"/>
          </a:p>
        </p:txBody>
      </p:sp>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1" name="TextBox 10"/>
          <p:cNvSpPr txBox="1"/>
          <p:nvPr/>
        </p:nvSpPr>
        <p:spPr>
          <a:xfrm>
            <a:off x="5092118" y="6505663"/>
            <a:ext cx="4555222" cy="337185"/>
          </a:xfrm>
          <a:prstGeom prst="rect">
            <a:avLst/>
          </a:prstGeom>
          <a:noFill/>
        </p:spPr>
        <p:txBody>
          <a:bodyPr wrap="square" rtlCol="0">
            <a:spAutoFit/>
          </a:bodyPr>
          <a:lstStyle/>
          <a:p>
            <a:r>
              <a:rPr lang="en-US" sz="1600" dirty="0"/>
              <a:t>Project Work(CSE18R498)</a:t>
            </a:r>
            <a:endParaRPr lang="en-IN" sz="1600" dirty="0"/>
          </a:p>
        </p:txBody>
      </p:sp>
      <p:sp>
        <p:nvSpPr>
          <p:cNvPr id="12" name="TextBox 11"/>
          <p:cNvSpPr txBox="1"/>
          <p:nvPr/>
        </p:nvSpPr>
        <p:spPr>
          <a:xfrm>
            <a:off x="251669" y="6536440"/>
            <a:ext cx="1988191" cy="307777"/>
          </a:xfrm>
          <a:prstGeom prst="rect">
            <a:avLst/>
          </a:prstGeom>
          <a:noFill/>
        </p:spPr>
        <p:txBody>
          <a:bodyPr wrap="square" rtlCol="0">
            <a:spAutoFit/>
          </a:bodyPr>
          <a:lstStyle/>
          <a:p>
            <a:r>
              <a:rPr lang="en-US" sz="1400" dirty="0">
                <a:solidFill>
                  <a:schemeClr val="tx1">
                    <a:lumMod val="65000"/>
                    <a:lumOff val="35000"/>
                  </a:schemeClr>
                </a:solidFill>
              </a:rPr>
              <a:t>07/09/2022</a:t>
            </a:r>
            <a:endParaRPr lang="en-IN" sz="1400" dirty="0">
              <a:solidFill>
                <a:schemeClr val="tx1">
                  <a:lumMod val="65000"/>
                  <a:lumOff val="35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03</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LITERATURE SURVEY</a:t>
            </a:r>
            <a:endParaRPr lang="en-IN" sz="3200"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F788887B-3D28-1226-16C8-E6EDAC6CDFDD}"/>
              </a:ext>
            </a:extLst>
          </p:cNvPr>
          <p:cNvGraphicFramePr>
            <a:graphicFrameLocks noGrp="1"/>
          </p:cNvGraphicFramePr>
          <p:nvPr>
            <p:extLst>
              <p:ext uri="{D42A27DB-BD31-4B8C-83A1-F6EECF244321}">
                <p14:modId xmlns:p14="http://schemas.microsoft.com/office/powerpoint/2010/main" val="4287286393"/>
              </p:ext>
            </p:extLst>
          </p:nvPr>
        </p:nvGraphicFramePr>
        <p:xfrm>
          <a:off x="1818640" y="1710266"/>
          <a:ext cx="8757920" cy="3434906"/>
        </p:xfrm>
        <a:graphic>
          <a:graphicData uri="http://schemas.openxmlformats.org/drawingml/2006/table">
            <a:tbl>
              <a:tblPr firstRow="1" bandRow="1">
                <a:tableStyleId>{8799B23B-EC83-4686-B30A-512413B5E67A}</a:tableStyleId>
              </a:tblPr>
              <a:tblGrid>
                <a:gridCol w="4378960">
                  <a:extLst>
                    <a:ext uri="{9D8B030D-6E8A-4147-A177-3AD203B41FA5}">
                      <a16:colId xmlns:a16="http://schemas.microsoft.com/office/drawing/2014/main" val="3659069085"/>
                    </a:ext>
                  </a:extLst>
                </a:gridCol>
                <a:gridCol w="4378960">
                  <a:extLst>
                    <a:ext uri="{9D8B030D-6E8A-4147-A177-3AD203B41FA5}">
                      <a16:colId xmlns:a16="http://schemas.microsoft.com/office/drawing/2014/main" val="3409503166"/>
                    </a:ext>
                  </a:extLst>
                </a:gridCol>
              </a:tblGrid>
              <a:tr h="748454">
                <a:tc>
                  <a:txBody>
                    <a:bodyPr/>
                    <a:lstStyle/>
                    <a:p>
                      <a:pPr algn="ctr"/>
                      <a:r>
                        <a:rPr lang="en-US" dirty="0">
                          <a:solidFill>
                            <a:schemeClr val="tx1">
                              <a:lumMod val="85000"/>
                              <a:lumOff val="15000"/>
                            </a:schemeClr>
                          </a:solidFill>
                          <a:latin typeface="Calibri" panose="020F0502020204030204" pitchFamily="34" charset="0"/>
                          <a:cs typeface="Calibri" panose="020F0502020204030204" pitchFamily="34" charset="0"/>
                        </a:rPr>
                        <a:t>Paper Details</a:t>
                      </a:r>
                      <a:endParaRPr lang="en-IN" dirty="0">
                        <a:solidFill>
                          <a:schemeClr val="tx1">
                            <a:lumMod val="85000"/>
                            <a:lumOff val="15000"/>
                          </a:schemeClr>
                        </a:solidFill>
                        <a:latin typeface="Calibri" panose="020F0502020204030204" pitchFamily="34" charset="0"/>
                        <a:cs typeface="Calibri" panose="020F0502020204030204" pitchFamily="34" charset="0"/>
                      </a:endParaRPr>
                    </a:p>
                  </a:txBody>
                  <a:tcPr anchor="ctr"/>
                </a:tc>
                <a:tc>
                  <a:txBody>
                    <a:bodyPr/>
                    <a:lstStyle/>
                    <a:p>
                      <a:pPr algn="ctr"/>
                      <a:r>
                        <a:rPr lang="en-US" dirty="0">
                          <a:solidFill>
                            <a:schemeClr val="tx1">
                              <a:lumMod val="85000"/>
                              <a:lumOff val="15000"/>
                            </a:schemeClr>
                          </a:solidFill>
                          <a:latin typeface="Calibri" panose="020F0502020204030204" pitchFamily="34" charset="0"/>
                          <a:cs typeface="Calibri" panose="020F0502020204030204" pitchFamily="34" charset="0"/>
                        </a:rPr>
                        <a:t>Existing Work</a:t>
                      </a:r>
                      <a:endParaRPr lang="en-IN" dirty="0">
                        <a:solidFill>
                          <a:schemeClr val="tx1">
                            <a:lumMod val="85000"/>
                            <a:lumOff val="15000"/>
                          </a:schemeClr>
                        </a:solidFill>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884168137"/>
                  </a:ext>
                </a:extLst>
              </a:tr>
              <a:tr h="1343226">
                <a:tc>
                  <a:txBody>
                    <a:bodyPr/>
                    <a:lstStyle/>
                    <a:p>
                      <a:r>
                        <a:rPr lang="en-US" sz="1400" b="1" kern="1200" dirty="0">
                          <a:solidFill>
                            <a:schemeClr val="tx1"/>
                          </a:solidFill>
                          <a:effectLst/>
                          <a:latin typeface="Calibri" panose="020F0502020204030204" pitchFamily="34" charset="0"/>
                          <a:ea typeface="+mn-ea"/>
                          <a:cs typeface="Calibri" panose="020F0502020204030204" pitchFamily="34" charset="0"/>
                        </a:rPr>
                        <a:t>“</a:t>
                      </a:r>
                      <a:r>
                        <a:rPr lang="en-IN" sz="1400" b="1" i="0" kern="1200" dirty="0">
                          <a:solidFill>
                            <a:schemeClr val="tx1"/>
                          </a:solidFill>
                          <a:effectLst/>
                          <a:latin typeface="Calibri" panose="020F0502020204030204" pitchFamily="34" charset="0"/>
                          <a:ea typeface="+mn-ea"/>
                          <a:cs typeface="Calibri" panose="020F0502020204030204" pitchFamily="34" charset="0"/>
                        </a:rPr>
                        <a:t>Smart Local Shopping System</a:t>
                      </a:r>
                      <a:r>
                        <a:rPr lang="en-US" sz="1400" b="1" kern="1200" dirty="0">
                          <a:solidFill>
                            <a:schemeClr val="tx1"/>
                          </a:solidFill>
                          <a:effectLst/>
                          <a:latin typeface="Calibri" panose="020F0502020204030204" pitchFamily="34" charset="0"/>
                          <a:ea typeface="+mn-ea"/>
                          <a:cs typeface="Calibri" panose="020F0502020204030204" pitchFamily="34" charset="0"/>
                        </a:rPr>
                        <a:t>”</a:t>
                      </a:r>
                      <a:r>
                        <a:rPr lang="en-US" sz="1400" kern="1200" dirty="0">
                          <a:solidFill>
                            <a:schemeClr val="tx1"/>
                          </a:solidFill>
                          <a:effectLst/>
                          <a:latin typeface="Calibri" panose="020F0502020204030204" pitchFamily="34" charset="0"/>
                          <a:ea typeface="+mn-ea"/>
                          <a:cs typeface="Calibri" panose="020F0502020204030204" pitchFamily="34" charset="0"/>
                        </a:rPr>
                        <a:t>, </a:t>
                      </a:r>
                      <a:r>
                        <a:rPr lang="en-IN" sz="1400" kern="1200" dirty="0">
                          <a:solidFill>
                            <a:schemeClr val="tx1"/>
                          </a:solidFill>
                          <a:effectLst/>
                          <a:latin typeface="Calibri" panose="020F0502020204030204" pitchFamily="34" charset="0"/>
                          <a:ea typeface="+mn-ea"/>
                          <a:cs typeface="Calibri" panose="020F0502020204030204" pitchFamily="34" charset="0"/>
                        </a:rPr>
                        <a:t>Rohan </a:t>
                      </a:r>
                      <a:r>
                        <a:rPr lang="en-IN" sz="1400" kern="1200" dirty="0" err="1">
                          <a:solidFill>
                            <a:schemeClr val="tx1"/>
                          </a:solidFill>
                          <a:effectLst/>
                          <a:latin typeface="Calibri" panose="020F0502020204030204" pitchFamily="34" charset="0"/>
                          <a:ea typeface="+mn-ea"/>
                          <a:cs typeface="Calibri" panose="020F0502020204030204" pitchFamily="34" charset="0"/>
                        </a:rPr>
                        <a:t>Padaya</a:t>
                      </a:r>
                      <a:r>
                        <a:rPr lang="en-IN" sz="1400" kern="1200" dirty="0">
                          <a:solidFill>
                            <a:schemeClr val="tx1"/>
                          </a:solidFill>
                          <a:effectLst/>
                          <a:latin typeface="Calibri" panose="020F0502020204030204" pitchFamily="34" charset="0"/>
                          <a:ea typeface="+mn-ea"/>
                          <a:cs typeface="Calibri" panose="020F0502020204030204" pitchFamily="34" charset="0"/>
                        </a:rPr>
                        <a:t>, IEEE(2018).</a:t>
                      </a:r>
                      <a:endParaRPr lang="en-IN" sz="1400" dirty="0">
                        <a:latin typeface="Calibri" panose="020F0502020204030204" pitchFamily="34" charset="0"/>
                        <a:cs typeface="Calibri" panose="020F0502020204030204" pitchFamily="34" charset="0"/>
                      </a:endParaRPr>
                    </a:p>
                  </a:txBody>
                  <a:tcPr anchor="ctr"/>
                </a:tc>
                <a:tc>
                  <a:txBody>
                    <a:bodyPr/>
                    <a:lstStyle/>
                    <a:p>
                      <a:pPr algn="just"/>
                      <a:r>
                        <a:rPr lang="en-US" sz="1400" b="0" dirty="0"/>
                        <a:t>This paper's goal is to improve e-commerce marketing and push delivery using huge data from recent consumer search texts. In this work, the Word2vector technique is employed to analyze the big data.</a:t>
                      </a:r>
                      <a:endParaRPr lang="en-IN" sz="1400" b="0" dirty="0"/>
                    </a:p>
                  </a:txBody>
                  <a:tcPr anchor="ctr"/>
                </a:tc>
                <a:extLst>
                  <a:ext uri="{0D108BD9-81ED-4DB2-BD59-A6C34878D82A}">
                    <a16:rowId xmlns:a16="http://schemas.microsoft.com/office/drawing/2014/main" val="877463710"/>
                  </a:ext>
                </a:extLst>
              </a:tr>
              <a:tr h="1343226">
                <a:tc>
                  <a:txBody>
                    <a:bodyPr/>
                    <a:lstStyle/>
                    <a:p>
                      <a:r>
                        <a:rPr lang="en-US" sz="1400" b="1" kern="1200" dirty="0">
                          <a:solidFill>
                            <a:schemeClr val="tx1"/>
                          </a:solidFill>
                          <a:effectLst/>
                          <a:latin typeface="Calibri" panose="020F0502020204030204" pitchFamily="34" charset="0"/>
                          <a:ea typeface="+mn-ea"/>
                          <a:cs typeface="Calibri" panose="020F0502020204030204" pitchFamily="34" charset="0"/>
                        </a:rPr>
                        <a:t>“Design and implementation of e-commerce system based on the Web”</a:t>
                      </a:r>
                      <a:r>
                        <a:rPr lang="en-US" sz="1400" kern="1200" dirty="0">
                          <a:solidFill>
                            <a:schemeClr val="tx1"/>
                          </a:solidFill>
                          <a:effectLst/>
                          <a:latin typeface="Calibri" panose="020F0502020204030204" pitchFamily="34" charset="0"/>
                          <a:ea typeface="+mn-ea"/>
                          <a:cs typeface="Calibri" panose="020F0502020204030204" pitchFamily="34" charset="0"/>
                        </a:rPr>
                        <a:t>,</a:t>
                      </a:r>
                      <a:r>
                        <a:rPr lang="en-IN" sz="1400" kern="1200" dirty="0">
                          <a:solidFill>
                            <a:schemeClr val="tx1"/>
                          </a:solidFill>
                          <a:effectLst/>
                          <a:latin typeface="Calibri" panose="020F0502020204030204" pitchFamily="34" charset="0"/>
                          <a:ea typeface="+mn-ea"/>
                          <a:cs typeface="Calibri" panose="020F0502020204030204" pitchFamily="34" charset="0"/>
                        </a:rPr>
                        <a:t> He </a:t>
                      </a:r>
                      <a:r>
                        <a:rPr lang="en-IN" sz="1400" kern="1200" dirty="0" err="1">
                          <a:solidFill>
                            <a:schemeClr val="tx1"/>
                          </a:solidFill>
                          <a:effectLst/>
                          <a:latin typeface="Calibri" panose="020F0502020204030204" pitchFamily="34" charset="0"/>
                          <a:ea typeface="+mn-ea"/>
                          <a:cs typeface="Calibri" panose="020F0502020204030204" pitchFamily="34" charset="0"/>
                        </a:rPr>
                        <a:t>JunHua</a:t>
                      </a:r>
                      <a:r>
                        <a:rPr lang="en-IN" sz="1400" kern="1200" dirty="0">
                          <a:solidFill>
                            <a:schemeClr val="tx1"/>
                          </a:solidFill>
                          <a:effectLst/>
                          <a:latin typeface="Calibri" panose="020F0502020204030204" pitchFamily="34" charset="0"/>
                          <a:ea typeface="+mn-ea"/>
                          <a:cs typeface="Calibri" panose="020F0502020204030204" pitchFamily="34" charset="0"/>
                        </a:rPr>
                        <a:t> , IEEE(2022).</a:t>
                      </a:r>
                      <a:endParaRPr lang="en-IN" sz="1400" dirty="0">
                        <a:latin typeface="Calibri" panose="020F0502020204030204" pitchFamily="34" charset="0"/>
                        <a:cs typeface="Calibri" panose="020F0502020204030204" pitchFamily="34" charset="0"/>
                      </a:endParaRPr>
                    </a:p>
                  </a:txBody>
                  <a:tcPr anchor="ctr"/>
                </a:tc>
                <a:tc>
                  <a:txBody>
                    <a:bodyPr/>
                    <a:lstStyle/>
                    <a:p>
                      <a:pPr algn="just"/>
                      <a:r>
                        <a:rPr lang="en-US" sz="1400" b="0" dirty="0"/>
                        <a:t>The proposal is a platform for store owners to advertise their goods and services to regular customers. This is a middleware solution between store owners and customers that serves as a  system of recommendations.</a:t>
                      </a:r>
                      <a:endParaRPr lang="en-IN" sz="1400" b="0" dirty="0"/>
                    </a:p>
                  </a:txBody>
                  <a:tcPr anchor="ctr"/>
                </a:tc>
                <a:extLst>
                  <a:ext uri="{0D108BD9-81ED-4DB2-BD59-A6C34878D82A}">
                    <a16:rowId xmlns:a16="http://schemas.microsoft.com/office/drawing/2014/main" val="28950705"/>
                  </a:ext>
                </a:extLst>
              </a:tr>
            </a:tbl>
          </a:graphicData>
        </a:graphic>
      </p:graphicFrame>
    </p:spTree>
    <p:extLst>
      <p:ext uri="{BB962C8B-B14F-4D97-AF65-F5344CB8AC3E}">
        <p14:creationId xmlns:p14="http://schemas.microsoft.com/office/powerpoint/2010/main" val="3101795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01</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LITERATURE SURVEY</a:t>
            </a:r>
            <a:endParaRPr lang="en-IN" sz="3200"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F788887B-3D28-1226-16C8-E6EDAC6CDFDD}"/>
              </a:ext>
            </a:extLst>
          </p:cNvPr>
          <p:cNvGraphicFramePr>
            <a:graphicFrameLocks noGrp="1"/>
          </p:cNvGraphicFramePr>
          <p:nvPr>
            <p:extLst>
              <p:ext uri="{D42A27DB-BD31-4B8C-83A1-F6EECF244321}">
                <p14:modId xmlns:p14="http://schemas.microsoft.com/office/powerpoint/2010/main" val="3262349484"/>
              </p:ext>
            </p:extLst>
          </p:nvPr>
        </p:nvGraphicFramePr>
        <p:xfrm>
          <a:off x="1818640" y="1710266"/>
          <a:ext cx="8757920" cy="3434906"/>
        </p:xfrm>
        <a:graphic>
          <a:graphicData uri="http://schemas.openxmlformats.org/drawingml/2006/table">
            <a:tbl>
              <a:tblPr firstRow="1" bandRow="1">
                <a:tableStyleId>{8799B23B-EC83-4686-B30A-512413B5E67A}</a:tableStyleId>
              </a:tblPr>
              <a:tblGrid>
                <a:gridCol w="4378960">
                  <a:extLst>
                    <a:ext uri="{9D8B030D-6E8A-4147-A177-3AD203B41FA5}">
                      <a16:colId xmlns:a16="http://schemas.microsoft.com/office/drawing/2014/main" val="3659069085"/>
                    </a:ext>
                  </a:extLst>
                </a:gridCol>
                <a:gridCol w="4378960">
                  <a:extLst>
                    <a:ext uri="{9D8B030D-6E8A-4147-A177-3AD203B41FA5}">
                      <a16:colId xmlns:a16="http://schemas.microsoft.com/office/drawing/2014/main" val="3409503166"/>
                    </a:ext>
                  </a:extLst>
                </a:gridCol>
              </a:tblGrid>
              <a:tr h="748454">
                <a:tc>
                  <a:txBody>
                    <a:bodyPr/>
                    <a:lstStyle/>
                    <a:p>
                      <a:pPr algn="ctr"/>
                      <a:r>
                        <a:rPr lang="en-US" dirty="0">
                          <a:solidFill>
                            <a:schemeClr val="tx1">
                              <a:lumMod val="85000"/>
                              <a:lumOff val="15000"/>
                            </a:schemeClr>
                          </a:solidFill>
                          <a:latin typeface="Calibri" panose="020F0502020204030204" pitchFamily="34" charset="0"/>
                          <a:cs typeface="Calibri" panose="020F0502020204030204" pitchFamily="34" charset="0"/>
                        </a:rPr>
                        <a:t>Paper Details</a:t>
                      </a:r>
                      <a:endParaRPr lang="en-IN" dirty="0">
                        <a:solidFill>
                          <a:schemeClr val="tx1">
                            <a:lumMod val="85000"/>
                            <a:lumOff val="15000"/>
                          </a:schemeClr>
                        </a:solidFill>
                        <a:latin typeface="Calibri" panose="020F0502020204030204" pitchFamily="34" charset="0"/>
                        <a:cs typeface="Calibri" panose="020F0502020204030204" pitchFamily="34" charset="0"/>
                      </a:endParaRPr>
                    </a:p>
                  </a:txBody>
                  <a:tcPr anchor="ctr"/>
                </a:tc>
                <a:tc>
                  <a:txBody>
                    <a:bodyPr/>
                    <a:lstStyle/>
                    <a:p>
                      <a:pPr algn="ctr"/>
                      <a:r>
                        <a:rPr lang="en-US" dirty="0">
                          <a:solidFill>
                            <a:schemeClr val="tx1">
                              <a:lumMod val="85000"/>
                              <a:lumOff val="15000"/>
                            </a:schemeClr>
                          </a:solidFill>
                          <a:latin typeface="Calibri" panose="020F0502020204030204" pitchFamily="34" charset="0"/>
                          <a:cs typeface="Calibri" panose="020F0502020204030204" pitchFamily="34" charset="0"/>
                        </a:rPr>
                        <a:t>Existing Work</a:t>
                      </a:r>
                      <a:endParaRPr lang="en-IN" dirty="0">
                        <a:solidFill>
                          <a:schemeClr val="tx1">
                            <a:lumMod val="85000"/>
                            <a:lumOff val="15000"/>
                          </a:schemeClr>
                        </a:solidFill>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884168137"/>
                  </a:ext>
                </a:extLst>
              </a:tr>
              <a:tr h="1343226">
                <a:tc>
                  <a:txBody>
                    <a:bodyPr/>
                    <a:lstStyle/>
                    <a:p>
                      <a:r>
                        <a:rPr lang="en-US" sz="1400" b="1" kern="1200" dirty="0">
                          <a:solidFill>
                            <a:schemeClr val="tx1"/>
                          </a:solidFill>
                          <a:effectLst/>
                          <a:latin typeface="Calibri" panose="020F0502020204030204" pitchFamily="34" charset="0"/>
                          <a:ea typeface="+mn-ea"/>
                          <a:cs typeface="Calibri" panose="020F0502020204030204" pitchFamily="34" charset="0"/>
                        </a:rPr>
                        <a:t>“Accurate delivery analysis of distributed e-commerce </a:t>
                      </a:r>
                      <a:endParaRPr lang="en-US" sz="1400" b="1" dirty="0">
                        <a:latin typeface="Calibri" panose="020F0502020204030204" pitchFamily="34" charset="0"/>
                        <a:cs typeface="Calibri" panose="020F0502020204030204" pitchFamily="34" charset="0"/>
                      </a:endParaRPr>
                    </a:p>
                    <a:p>
                      <a:r>
                        <a:rPr lang="en-US" sz="1400" b="1" kern="1200" dirty="0">
                          <a:solidFill>
                            <a:schemeClr val="tx1"/>
                          </a:solidFill>
                          <a:effectLst/>
                          <a:latin typeface="Calibri" panose="020F0502020204030204" pitchFamily="34" charset="0"/>
                          <a:ea typeface="+mn-ea"/>
                          <a:cs typeface="Calibri" panose="020F0502020204030204" pitchFamily="34" charset="0"/>
                        </a:rPr>
                        <a:t>based on Word2vector”</a:t>
                      </a:r>
                      <a:r>
                        <a:rPr lang="en-US" sz="1400" kern="1200" dirty="0">
                          <a:solidFill>
                            <a:schemeClr val="tx1"/>
                          </a:solidFill>
                          <a:effectLst/>
                          <a:latin typeface="Calibri" panose="020F0502020204030204" pitchFamily="34" charset="0"/>
                          <a:ea typeface="+mn-ea"/>
                          <a:cs typeface="Calibri" panose="020F0502020204030204" pitchFamily="34" charset="0"/>
                        </a:rPr>
                        <a:t>, </a:t>
                      </a:r>
                      <a:r>
                        <a:rPr lang="en-IN" sz="1400" kern="1200" dirty="0">
                          <a:solidFill>
                            <a:schemeClr val="tx1"/>
                          </a:solidFill>
                          <a:effectLst/>
                          <a:latin typeface="Calibri" panose="020F0502020204030204" pitchFamily="34" charset="0"/>
                          <a:ea typeface="+mn-ea"/>
                          <a:cs typeface="Calibri" panose="020F0502020204030204" pitchFamily="34" charset="0"/>
                        </a:rPr>
                        <a:t>Lin Long, IEEE(2019).</a:t>
                      </a:r>
                      <a:endParaRPr lang="en-IN" sz="1400" dirty="0">
                        <a:latin typeface="Calibri" panose="020F0502020204030204" pitchFamily="34" charset="0"/>
                        <a:cs typeface="Calibri" panose="020F0502020204030204" pitchFamily="34" charset="0"/>
                      </a:endParaRPr>
                    </a:p>
                  </a:txBody>
                  <a:tcPr anchor="ctr"/>
                </a:tc>
                <a:tc>
                  <a:txBody>
                    <a:bodyPr/>
                    <a:lstStyle/>
                    <a:p>
                      <a:pPr algn="just"/>
                      <a:r>
                        <a:rPr lang="en-US" sz="1400" b="0" dirty="0"/>
                        <a:t>This paper's goal is to improve e-commerce marketing and push delivery using huge data from recent consumer search texts. In this work, the Word2vector technique is employed to analyze the big data.</a:t>
                      </a:r>
                      <a:endParaRPr lang="en-IN" sz="1400" b="0" dirty="0"/>
                    </a:p>
                  </a:txBody>
                  <a:tcPr anchor="ctr"/>
                </a:tc>
                <a:extLst>
                  <a:ext uri="{0D108BD9-81ED-4DB2-BD59-A6C34878D82A}">
                    <a16:rowId xmlns:a16="http://schemas.microsoft.com/office/drawing/2014/main" val="877463710"/>
                  </a:ext>
                </a:extLst>
              </a:tr>
              <a:tr h="1343226">
                <a:tc>
                  <a:txBody>
                    <a:bodyPr/>
                    <a:lstStyle/>
                    <a:p>
                      <a:r>
                        <a:rPr lang="en-US" sz="1400" b="1" kern="1200" dirty="0">
                          <a:solidFill>
                            <a:schemeClr val="tx1"/>
                          </a:solidFill>
                          <a:effectLst/>
                          <a:latin typeface="Calibri" panose="020F0502020204030204" pitchFamily="34" charset="0"/>
                          <a:ea typeface="+mn-ea"/>
                          <a:cs typeface="Calibri" panose="020F0502020204030204" pitchFamily="34" charset="0"/>
                        </a:rPr>
                        <a:t>“Customer Demanding Products In Online Shopping</a:t>
                      </a:r>
                      <a:endParaRPr lang="en-US" sz="1400" b="1" dirty="0">
                        <a:latin typeface="Calibri" panose="020F0502020204030204" pitchFamily="34" charset="0"/>
                        <a:cs typeface="Calibri" panose="020F0502020204030204" pitchFamily="34" charset="0"/>
                      </a:endParaRPr>
                    </a:p>
                    <a:p>
                      <a:r>
                        <a:rPr lang="en-US" sz="1400" b="1" kern="1200" dirty="0">
                          <a:solidFill>
                            <a:schemeClr val="tx1"/>
                          </a:solidFill>
                          <a:effectLst/>
                          <a:latin typeface="Calibri" panose="020F0502020204030204" pitchFamily="34" charset="0"/>
                          <a:ea typeface="+mn-ea"/>
                          <a:cs typeface="Calibri" panose="020F0502020204030204" pitchFamily="34" charset="0"/>
                        </a:rPr>
                        <a:t>A Novel Framework ”</a:t>
                      </a:r>
                      <a:r>
                        <a:rPr lang="en-US" sz="1400" kern="1200" dirty="0">
                          <a:solidFill>
                            <a:schemeClr val="tx1"/>
                          </a:solidFill>
                          <a:effectLst/>
                          <a:latin typeface="Calibri" panose="020F0502020204030204" pitchFamily="34" charset="0"/>
                          <a:ea typeface="+mn-ea"/>
                          <a:cs typeface="Calibri" panose="020F0502020204030204" pitchFamily="34" charset="0"/>
                        </a:rPr>
                        <a:t>,</a:t>
                      </a:r>
                      <a:r>
                        <a:rPr lang="en-IN" sz="1800" kern="1200" dirty="0">
                          <a:solidFill>
                            <a:schemeClr val="tx1"/>
                          </a:solidFill>
                          <a:effectLst/>
                          <a:latin typeface="+mn-lt"/>
                          <a:ea typeface="+mn-ea"/>
                          <a:cs typeface="+mn-cs"/>
                        </a:rPr>
                        <a:t> </a:t>
                      </a:r>
                      <a:r>
                        <a:rPr lang="en-IN" sz="1400" kern="1200" dirty="0" err="1">
                          <a:solidFill>
                            <a:schemeClr val="tx1"/>
                          </a:solidFill>
                          <a:effectLst/>
                          <a:latin typeface="Calibri" panose="020F0502020204030204" pitchFamily="34" charset="0"/>
                          <a:ea typeface="+mn-ea"/>
                          <a:cs typeface="Calibri" panose="020F0502020204030204" pitchFamily="34" charset="0"/>
                        </a:rPr>
                        <a:t>Yogananth</a:t>
                      </a:r>
                      <a:r>
                        <a:rPr lang="en-IN" sz="1400" kern="1200" dirty="0">
                          <a:solidFill>
                            <a:schemeClr val="tx1"/>
                          </a:solidFill>
                          <a:effectLst/>
                          <a:latin typeface="Calibri" panose="020F0502020204030204" pitchFamily="34" charset="0"/>
                          <a:ea typeface="+mn-ea"/>
                          <a:cs typeface="Calibri" panose="020F0502020204030204" pitchFamily="34" charset="0"/>
                        </a:rPr>
                        <a:t>, IEEE(2017).</a:t>
                      </a:r>
                      <a:endParaRPr lang="en-IN" sz="1400" dirty="0">
                        <a:latin typeface="Calibri" panose="020F0502020204030204" pitchFamily="34" charset="0"/>
                        <a:cs typeface="Calibri" panose="020F0502020204030204" pitchFamily="34" charset="0"/>
                      </a:endParaRPr>
                    </a:p>
                  </a:txBody>
                  <a:tcPr anchor="ctr"/>
                </a:tc>
                <a:tc>
                  <a:txBody>
                    <a:bodyPr/>
                    <a:lstStyle/>
                    <a:p>
                      <a:pPr algn="just"/>
                      <a:r>
                        <a:rPr lang="en-US" sz="1400" b="0" dirty="0"/>
                        <a:t>The goal of the task is to develop an interface that will allow users to shop online by placing bids on the items they want to buy and then buying those items. Any seller that receives a sufficient bid rate may sell the item.</a:t>
                      </a:r>
                      <a:endParaRPr lang="en-IN" sz="1400" b="0" dirty="0"/>
                    </a:p>
                  </a:txBody>
                  <a:tcPr anchor="ctr"/>
                </a:tc>
                <a:extLst>
                  <a:ext uri="{0D108BD9-81ED-4DB2-BD59-A6C34878D82A}">
                    <a16:rowId xmlns:a16="http://schemas.microsoft.com/office/drawing/2014/main" val="289507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02</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LITERATURE SURVEY</a:t>
            </a:r>
            <a:endParaRPr lang="en-IN" sz="3200"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5">
            <a:extLst>
              <a:ext uri="{FF2B5EF4-FFF2-40B4-BE49-F238E27FC236}">
                <a16:creationId xmlns:a16="http://schemas.microsoft.com/office/drawing/2014/main" id="{F788887B-3D28-1226-16C8-E6EDAC6CDFDD}"/>
              </a:ext>
            </a:extLst>
          </p:cNvPr>
          <p:cNvGraphicFramePr>
            <a:graphicFrameLocks noGrp="1"/>
          </p:cNvGraphicFramePr>
          <p:nvPr>
            <p:extLst>
              <p:ext uri="{D42A27DB-BD31-4B8C-83A1-F6EECF244321}">
                <p14:modId xmlns:p14="http://schemas.microsoft.com/office/powerpoint/2010/main" val="2241725229"/>
              </p:ext>
            </p:extLst>
          </p:nvPr>
        </p:nvGraphicFramePr>
        <p:xfrm>
          <a:off x="1818640" y="1710266"/>
          <a:ext cx="8757920" cy="3434906"/>
        </p:xfrm>
        <a:graphic>
          <a:graphicData uri="http://schemas.openxmlformats.org/drawingml/2006/table">
            <a:tbl>
              <a:tblPr firstRow="1" bandRow="1">
                <a:tableStyleId>{8799B23B-EC83-4686-B30A-512413B5E67A}</a:tableStyleId>
              </a:tblPr>
              <a:tblGrid>
                <a:gridCol w="4378960">
                  <a:extLst>
                    <a:ext uri="{9D8B030D-6E8A-4147-A177-3AD203B41FA5}">
                      <a16:colId xmlns:a16="http://schemas.microsoft.com/office/drawing/2014/main" val="3659069085"/>
                    </a:ext>
                  </a:extLst>
                </a:gridCol>
                <a:gridCol w="4378960">
                  <a:extLst>
                    <a:ext uri="{9D8B030D-6E8A-4147-A177-3AD203B41FA5}">
                      <a16:colId xmlns:a16="http://schemas.microsoft.com/office/drawing/2014/main" val="3409503166"/>
                    </a:ext>
                  </a:extLst>
                </a:gridCol>
              </a:tblGrid>
              <a:tr h="748454">
                <a:tc>
                  <a:txBody>
                    <a:bodyPr/>
                    <a:lstStyle/>
                    <a:p>
                      <a:pPr algn="ctr"/>
                      <a:r>
                        <a:rPr lang="en-US" dirty="0">
                          <a:solidFill>
                            <a:schemeClr val="tx1">
                              <a:lumMod val="85000"/>
                              <a:lumOff val="15000"/>
                            </a:schemeClr>
                          </a:solidFill>
                          <a:latin typeface="Calibri" panose="020F0502020204030204" pitchFamily="34" charset="0"/>
                          <a:cs typeface="Calibri" panose="020F0502020204030204" pitchFamily="34" charset="0"/>
                        </a:rPr>
                        <a:t>Paper Details</a:t>
                      </a:r>
                      <a:endParaRPr lang="en-IN" dirty="0">
                        <a:solidFill>
                          <a:schemeClr val="tx1">
                            <a:lumMod val="85000"/>
                            <a:lumOff val="15000"/>
                          </a:schemeClr>
                        </a:solidFill>
                        <a:latin typeface="Calibri" panose="020F0502020204030204" pitchFamily="34" charset="0"/>
                        <a:cs typeface="Calibri" panose="020F0502020204030204" pitchFamily="34" charset="0"/>
                      </a:endParaRPr>
                    </a:p>
                  </a:txBody>
                  <a:tcPr anchor="ctr"/>
                </a:tc>
                <a:tc>
                  <a:txBody>
                    <a:bodyPr/>
                    <a:lstStyle/>
                    <a:p>
                      <a:pPr algn="ctr"/>
                      <a:r>
                        <a:rPr lang="en-US" dirty="0">
                          <a:solidFill>
                            <a:schemeClr val="tx1">
                              <a:lumMod val="85000"/>
                              <a:lumOff val="15000"/>
                            </a:schemeClr>
                          </a:solidFill>
                          <a:latin typeface="Calibri" panose="020F0502020204030204" pitchFamily="34" charset="0"/>
                          <a:cs typeface="Calibri" panose="020F0502020204030204" pitchFamily="34" charset="0"/>
                        </a:rPr>
                        <a:t>Existing Work</a:t>
                      </a:r>
                      <a:endParaRPr lang="en-IN" dirty="0">
                        <a:solidFill>
                          <a:schemeClr val="tx1">
                            <a:lumMod val="85000"/>
                            <a:lumOff val="15000"/>
                          </a:schemeClr>
                        </a:solidFill>
                        <a:latin typeface="Calibri" panose="020F0502020204030204" pitchFamily="34" charset="0"/>
                        <a:cs typeface="Calibri" panose="020F0502020204030204" pitchFamily="34" charset="0"/>
                      </a:endParaRPr>
                    </a:p>
                  </a:txBody>
                  <a:tcPr anchor="ctr"/>
                </a:tc>
                <a:extLst>
                  <a:ext uri="{0D108BD9-81ED-4DB2-BD59-A6C34878D82A}">
                    <a16:rowId xmlns:a16="http://schemas.microsoft.com/office/drawing/2014/main" val="2884168137"/>
                  </a:ext>
                </a:extLst>
              </a:tr>
              <a:tr h="1343226">
                <a:tc>
                  <a:txBody>
                    <a:bodyPr/>
                    <a:lstStyle/>
                    <a:p>
                      <a:r>
                        <a:rPr lang="en-US" sz="1400" b="1" kern="1200" dirty="0">
                          <a:solidFill>
                            <a:schemeClr val="tx1"/>
                          </a:solidFill>
                          <a:effectLst/>
                          <a:latin typeface="Calibri" panose="020F0502020204030204" pitchFamily="34" charset="0"/>
                          <a:ea typeface="+mn-ea"/>
                          <a:cs typeface="Calibri" panose="020F0502020204030204" pitchFamily="34" charset="0"/>
                        </a:rPr>
                        <a:t>“Customer Satisfaction of E-Commerce Websites”</a:t>
                      </a:r>
                      <a:r>
                        <a:rPr lang="en-US" sz="1400" kern="1200" dirty="0">
                          <a:solidFill>
                            <a:schemeClr val="tx1"/>
                          </a:solidFill>
                          <a:effectLst/>
                          <a:latin typeface="Calibri" panose="020F0502020204030204" pitchFamily="34" charset="0"/>
                          <a:ea typeface="+mn-ea"/>
                          <a:cs typeface="Calibri" panose="020F0502020204030204" pitchFamily="34" charset="0"/>
                        </a:rPr>
                        <a:t>, </a:t>
                      </a:r>
                      <a:r>
                        <a:rPr lang="en-IN" sz="1400" kern="1200" dirty="0">
                          <a:solidFill>
                            <a:schemeClr val="tx1"/>
                          </a:solidFill>
                          <a:effectLst/>
                          <a:latin typeface="+mn-lt"/>
                          <a:ea typeface="+mn-ea"/>
                          <a:cs typeface="+mn-cs"/>
                        </a:rPr>
                        <a:t>Xiang </a:t>
                      </a:r>
                      <a:r>
                        <a:rPr lang="en-IN" sz="1400" kern="1200" dirty="0" err="1">
                          <a:solidFill>
                            <a:schemeClr val="tx1"/>
                          </a:solidFill>
                          <a:effectLst/>
                          <a:latin typeface="+mn-lt"/>
                          <a:ea typeface="+mn-ea"/>
                          <a:cs typeface="+mn-cs"/>
                        </a:rPr>
                        <a:t>Jianchi</a:t>
                      </a:r>
                      <a:r>
                        <a:rPr lang="en-IN" sz="1400" kern="1200" dirty="0">
                          <a:solidFill>
                            <a:schemeClr val="tx1"/>
                          </a:solidFill>
                          <a:effectLst/>
                          <a:latin typeface="Calibri" panose="020F0502020204030204" pitchFamily="34" charset="0"/>
                          <a:ea typeface="+mn-ea"/>
                          <a:cs typeface="Calibri" panose="020F0502020204030204" pitchFamily="34" charset="0"/>
                        </a:rPr>
                        <a:t>, IEEE(2009).</a:t>
                      </a:r>
                      <a:endParaRPr lang="en-IN" sz="1400" dirty="0">
                        <a:latin typeface="Calibri" panose="020F0502020204030204" pitchFamily="34" charset="0"/>
                        <a:cs typeface="Calibri" panose="020F0502020204030204" pitchFamily="34" charset="0"/>
                      </a:endParaRPr>
                    </a:p>
                  </a:txBody>
                  <a:tcPr anchor="ctr"/>
                </a:tc>
                <a:tc>
                  <a:txBody>
                    <a:bodyPr/>
                    <a:lstStyle/>
                    <a:p>
                      <a:pPr algn="just"/>
                      <a:r>
                        <a:rPr lang="en-US" sz="1400" b="0" dirty="0"/>
                        <a:t>This paper provides a hypothetical model of the elements that affect client satisfaction for e-commerce sites based on past research and empirical findings.</a:t>
                      </a:r>
                      <a:endParaRPr lang="en-IN" sz="1400" b="0" dirty="0"/>
                    </a:p>
                  </a:txBody>
                  <a:tcPr anchor="ctr"/>
                </a:tc>
                <a:extLst>
                  <a:ext uri="{0D108BD9-81ED-4DB2-BD59-A6C34878D82A}">
                    <a16:rowId xmlns:a16="http://schemas.microsoft.com/office/drawing/2014/main" val="877463710"/>
                  </a:ext>
                </a:extLst>
              </a:tr>
              <a:tr h="1343226">
                <a:tc>
                  <a:txBody>
                    <a:bodyPr/>
                    <a:lstStyle/>
                    <a:p>
                      <a:r>
                        <a:rPr lang="en-US" sz="1400" b="1" kern="1200" dirty="0">
                          <a:solidFill>
                            <a:schemeClr val="tx1"/>
                          </a:solidFill>
                          <a:effectLst/>
                          <a:latin typeface="Calibri" panose="020F0502020204030204" pitchFamily="34" charset="0"/>
                          <a:ea typeface="+mn-ea"/>
                          <a:cs typeface="Calibri" panose="020F0502020204030204" pitchFamily="34" charset="0"/>
                        </a:rPr>
                        <a:t>“</a:t>
                      </a:r>
                      <a:r>
                        <a:rPr lang="en-US" sz="1400" b="1" i="0" kern="1200" dirty="0">
                          <a:solidFill>
                            <a:schemeClr val="tx1"/>
                          </a:solidFill>
                          <a:effectLst/>
                          <a:latin typeface="Calibri" panose="020F0502020204030204" pitchFamily="34" charset="0"/>
                          <a:ea typeface="+mn-ea"/>
                          <a:cs typeface="Calibri" panose="020F0502020204030204" pitchFamily="34" charset="0"/>
                        </a:rPr>
                        <a:t>Last mile delivery concepts in E-Commerce </a:t>
                      </a:r>
                      <a:endParaRPr lang="en-US" sz="1400" i="0" dirty="0">
                        <a:latin typeface="Calibri" panose="020F0502020204030204" pitchFamily="34" charset="0"/>
                        <a:cs typeface="Calibri" panose="020F0502020204030204" pitchFamily="34" charset="0"/>
                      </a:endParaRPr>
                    </a:p>
                    <a:p>
                      <a:r>
                        <a:rPr lang="en-US" sz="1400" b="1" i="0" kern="1200" dirty="0">
                          <a:solidFill>
                            <a:schemeClr val="tx1"/>
                          </a:solidFill>
                          <a:effectLst/>
                          <a:latin typeface="Calibri" panose="020F0502020204030204" pitchFamily="34" charset="0"/>
                          <a:ea typeface="+mn-ea"/>
                          <a:cs typeface="Calibri" panose="020F0502020204030204" pitchFamily="34" charset="0"/>
                        </a:rPr>
                        <a:t>An empirical approach </a:t>
                      </a:r>
                      <a:r>
                        <a:rPr lang="en-US" sz="1400" b="1" kern="1200" dirty="0">
                          <a:solidFill>
                            <a:schemeClr val="tx1"/>
                          </a:solidFill>
                          <a:effectLst/>
                          <a:latin typeface="Calibri" panose="020F0502020204030204" pitchFamily="34" charset="0"/>
                          <a:ea typeface="+mn-ea"/>
                          <a:cs typeface="Calibri" panose="020F0502020204030204" pitchFamily="34" charset="0"/>
                        </a:rPr>
                        <a:t>”</a:t>
                      </a:r>
                      <a:r>
                        <a:rPr lang="en-US" sz="1400" kern="1200" dirty="0">
                          <a:solidFill>
                            <a:schemeClr val="tx1"/>
                          </a:solidFill>
                          <a:effectLst/>
                          <a:latin typeface="Calibri" panose="020F0502020204030204" pitchFamily="34" charset="0"/>
                          <a:ea typeface="+mn-ea"/>
                          <a:cs typeface="Calibri" panose="020F0502020204030204" pitchFamily="34" charset="0"/>
                        </a:rPr>
                        <a:t>,</a:t>
                      </a:r>
                      <a:r>
                        <a:rPr lang="en-IN" sz="1400" kern="1200" dirty="0">
                          <a:solidFill>
                            <a:schemeClr val="tx1"/>
                          </a:solidFill>
                          <a:effectLst/>
                          <a:latin typeface="Calibri" panose="020F0502020204030204" pitchFamily="34" charset="0"/>
                          <a:ea typeface="+mn-ea"/>
                          <a:cs typeface="Calibri" panose="020F0502020204030204" pitchFamily="34" charset="0"/>
                        </a:rPr>
                        <a:t> Simon </a:t>
                      </a:r>
                      <a:r>
                        <a:rPr lang="en-IN" sz="1400" kern="1200" dirty="0" err="1">
                          <a:solidFill>
                            <a:schemeClr val="tx1"/>
                          </a:solidFill>
                          <a:effectLst/>
                          <a:latin typeface="Calibri" panose="020F0502020204030204" pitchFamily="34" charset="0"/>
                          <a:ea typeface="+mn-ea"/>
                          <a:cs typeface="Calibri" panose="020F0502020204030204" pitchFamily="34" charset="0"/>
                        </a:rPr>
                        <a:t>Holdorf</a:t>
                      </a:r>
                      <a:r>
                        <a:rPr lang="en-IN" sz="1400" kern="1200" dirty="0">
                          <a:solidFill>
                            <a:schemeClr val="tx1"/>
                          </a:solidFill>
                          <a:effectLst/>
                          <a:latin typeface="Calibri" panose="020F0502020204030204" pitchFamily="34" charset="0"/>
                          <a:ea typeface="+mn-ea"/>
                          <a:cs typeface="Calibri" panose="020F0502020204030204" pitchFamily="34" charset="0"/>
                        </a:rPr>
                        <a:t>, IEEE(2014).</a:t>
                      </a:r>
                      <a:endParaRPr lang="en-IN" sz="1400" dirty="0">
                        <a:latin typeface="Calibri" panose="020F0502020204030204" pitchFamily="34" charset="0"/>
                        <a:cs typeface="Calibri" panose="020F0502020204030204" pitchFamily="34" charset="0"/>
                      </a:endParaRPr>
                    </a:p>
                  </a:txBody>
                  <a:tcPr anchor="ctr"/>
                </a:tc>
                <a:tc>
                  <a:txBody>
                    <a:bodyPr/>
                    <a:lstStyle/>
                    <a:p>
                      <a:pPr algn="just"/>
                      <a:r>
                        <a:rPr lang="en-US" sz="1400" b="0" dirty="0"/>
                        <a:t> This paper proposed an empirical study in which 250 potential online customers were asked about their preferences for last-mile delivery and online shopping, in order to demonstrate the significance of new shipping strategies.</a:t>
                      </a:r>
                      <a:endParaRPr lang="en-IN" sz="1400" b="0" dirty="0"/>
                    </a:p>
                  </a:txBody>
                  <a:tcPr anchor="ctr"/>
                </a:tc>
                <a:extLst>
                  <a:ext uri="{0D108BD9-81ED-4DB2-BD59-A6C34878D82A}">
                    <a16:rowId xmlns:a16="http://schemas.microsoft.com/office/drawing/2014/main" val="28950705"/>
                  </a:ext>
                </a:extLst>
              </a:tr>
            </a:tbl>
          </a:graphicData>
        </a:graphic>
      </p:graphicFrame>
    </p:spTree>
    <p:extLst>
      <p:ext uri="{BB962C8B-B14F-4D97-AF65-F5344CB8AC3E}">
        <p14:creationId xmlns:p14="http://schemas.microsoft.com/office/powerpoint/2010/main" val="3349741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04</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EXISTING SYSTEMS</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B42FFAFD-2B00-FAA9-9A5B-455B139FA55B}"/>
              </a:ext>
            </a:extLst>
          </p:cNvPr>
          <p:cNvSpPr txBox="1"/>
          <p:nvPr/>
        </p:nvSpPr>
        <p:spPr>
          <a:xfrm>
            <a:off x="2508069" y="2203380"/>
            <a:ext cx="7445828" cy="2126864"/>
          </a:xfrm>
          <a:prstGeom prst="rect">
            <a:avLst/>
          </a:prstGeom>
          <a:noFill/>
        </p:spPr>
        <p:txBody>
          <a:bodyPr wrap="square" rtlCol="0">
            <a:spAutoFit/>
          </a:bodyPr>
          <a:lstStyle/>
          <a:p>
            <a:pPr marL="285750" indent="-285750" algn="just">
              <a:lnSpc>
                <a:spcPct val="150000"/>
              </a:lnSpc>
              <a:buClr>
                <a:schemeClr val="bg2">
                  <a:lumMod val="25000"/>
                </a:schemeClr>
              </a:buClr>
              <a:buFont typeface="Wingdings" panose="05000000000000000000" pitchFamily="2" charset="2"/>
              <a:buChar char="§"/>
            </a:pPr>
            <a:r>
              <a:rPr lang="en-US" sz="1800" dirty="0">
                <a:latin typeface="Calibri" panose="020F0502020204030204" pitchFamily="34" charset="0"/>
                <a:cs typeface="Calibri" panose="020F0502020204030204" pitchFamily="34" charset="0"/>
              </a:rPr>
              <a:t>We can develop and manage e-commerce websites using open technologies such as WordPress, </a:t>
            </a:r>
            <a:r>
              <a:rPr lang="en-US" sz="1800" dirty="0" err="1">
                <a:latin typeface="Calibri" panose="020F0502020204030204" pitchFamily="34" charset="0"/>
                <a:cs typeface="Calibri" panose="020F0502020204030204" pitchFamily="34" charset="0"/>
              </a:rPr>
              <a:t>Wix</a:t>
            </a:r>
            <a:r>
              <a:rPr lang="en-US" sz="1800" dirty="0">
                <a:latin typeface="Calibri" panose="020F0502020204030204" pitchFamily="34" charset="0"/>
                <a:cs typeface="Calibri" panose="020F0502020204030204" pitchFamily="34" charset="0"/>
              </a:rPr>
              <a:t>, woo-commerce, and others.</a:t>
            </a:r>
          </a:p>
          <a:p>
            <a:pPr algn="just">
              <a:lnSpc>
                <a:spcPct val="150000"/>
              </a:lnSpc>
              <a:buClr>
                <a:schemeClr val="bg2">
                  <a:lumMod val="25000"/>
                </a:schemeClr>
              </a:buClr>
            </a:pPr>
            <a:endParaRPr lang="en-US" sz="1800" dirty="0">
              <a:latin typeface="Calibri" panose="020F0502020204030204" pitchFamily="34" charset="0"/>
              <a:cs typeface="Calibri" panose="020F0502020204030204" pitchFamily="34" charset="0"/>
            </a:endParaRPr>
          </a:p>
          <a:p>
            <a:pPr marL="285750" indent="-285750" algn="just">
              <a:lnSpc>
                <a:spcPct val="150000"/>
              </a:lnSpc>
              <a:buClr>
                <a:schemeClr val="bg2">
                  <a:lumMod val="25000"/>
                </a:schemeClr>
              </a:buClr>
              <a:buFont typeface="Wingdings" panose="05000000000000000000" pitchFamily="2" charset="2"/>
              <a:buChar char="§"/>
            </a:pPr>
            <a:r>
              <a:rPr lang="en-US" sz="1800" dirty="0">
                <a:latin typeface="Calibri" panose="020F0502020204030204" pitchFamily="34" charset="0"/>
                <a:cs typeface="Calibri" panose="020F0502020204030204" pitchFamily="34" charset="0"/>
              </a:rPr>
              <a:t>We can list and sell our products on e-commerce sites like Flipkart and Amazon.</a:t>
            </a:r>
          </a:p>
        </p:txBody>
      </p:sp>
    </p:spTree>
    <p:extLst>
      <p:ext uri="{BB962C8B-B14F-4D97-AF65-F5344CB8AC3E}">
        <p14:creationId xmlns:p14="http://schemas.microsoft.com/office/powerpoint/2010/main" val="3128007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05</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ISSUES IN EXISTING SYSTEMS</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508069" y="2161435"/>
            <a:ext cx="7445828" cy="2957861"/>
          </a:xfrm>
          <a:prstGeom prst="rect">
            <a:avLst/>
          </a:prstGeom>
          <a:noFill/>
        </p:spPr>
        <p:txBody>
          <a:bodyPr wrap="square" rtlCol="0">
            <a:spAutoFit/>
          </a:bodyPr>
          <a:lstStyle/>
          <a:p>
            <a:pPr marL="285750" indent="-285750" algn="just">
              <a:lnSpc>
                <a:spcPct val="150000"/>
              </a:lnSpc>
              <a:buClr>
                <a:schemeClr val="bg2">
                  <a:lumMod val="25000"/>
                </a:schemeClr>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We can build our website with open-source software, but getting clients is difficult.</a:t>
            </a:r>
          </a:p>
          <a:p>
            <a:pPr marL="285750" indent="-285750" algn="just">
              <a:lnSpc>
                <a:spcPct val="150000"/>
              </a:lnSpc>
              <a:buClr>
                <a:schemeClr val="bg2">
                  <a:lumMod val="25000"/>
                </a:schemeClr>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We cannot place our trust in every seller on Flipkart or Amazon.</a:t>
            </a:r>
          </a:p>
          <a:p>
            <a:pPr marL="285750" indent="-285750" algn="just">
              <a:lnSpc>
                <a:spcPct val="150000"/>
              </a:lnSpc>
              <a:buClr>
                <a:schemeClr val="bg2">
                  <a:lumMod val="25000"/>
                </a:schemeClr>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Shipping fees are expensive.</a:t>
            </a:r>
          </a:p>
          <a:p>
            <a:pPr marL="285750" indent="-285750" algn="just">
              <a:lnSpc>
                <a:spcPct val="150000"/>
              </a:lnSpc>
              <a:buClr>
                <a:schemeClr val="bg2">
                  <a:lumMod val="25000"/>
                </a:schemeClr>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We are unable to approach sellers when the product is fake.</a:t>
            </a:r>
          </a:p>
          <a:p>
            <a:pPr marL="285750" indent="-285750" algn="just">
              <a:lnSpc>
                <a:spcPct val="150000"/>
              </a:lnSpc>
              <a:buClr>
                <a:schemeClr val="bg2">
                  <a:lumMod val="25000"/>
                </a:schemeClr>
              </a:buClr>
              <a:buFont typeface="Courier New" panose="02070309020205020404" pitchFamily="49" charset="0"/>
              <a:buChar char="o"/>
            </a:pPr>
            <a:r>
              <a:rPr lang="en-US" sz="1800" dirty="0">
                <a:latin typeface="Calibri" panose="020F0502020204030204" pitchFamily="34" charset="0"/>
                <a:cs typeface="Calibri" panose="020F0502020204030204" pitchFamily="34" charset="0"/>
              </a:rPr>
              <a:t>delivery delay.</a:t>
            </a:r>
          </a:p>
          <a:p>
            <a:pPr marL="285750" indent="-285750" algn="just">
              <a:lnSpc>
                <a:spcPct val="150000"/>
              </a:lnSpc>
              <a:buClr>
                <a:schemeClr val="bg2">
                  <a:lumMod val="25000"/>
                </a:schemeClr>
              </a:buClr>
              <a:buFont typeface="Wingdings" panose="05000000000000000000" pitchFamily="2" charset="2"/>
              <a:buChar char="§"/>
            </a:pPr>
            <a:endParaRPr lang="en-IN" dirty="0">
              <a:latin typeface="Calibri" panose="020F0502020204030204" pitchFamily="34" charset="0"/>
              <a:cs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06</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PROPOSED SYSTEM</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508069" y="2203380"/>
            <a:ext cx="7445828" cy="1711366"/>
          </a:xfrm>
          <a:prstGeom prst="rect">
            <a:avLst/>
          </a:prstGeom>
          <a:noFill/>
        </p:spPr>
        <p:txBody>
          <a:bodyPr wrap="square" rtlCol="0">
            <a:spAutoFit/>
          </a:bodyPr>
          <a:lstStyle/>
          <a:p>
            <a:pPr marL="285750" indent="-285750" algn="just">
              <a:lnSpc>
                <a:spcPct val="150000"/>
              </a:lnSpc>
              <a:buClr>
                <a:schemeClr val="bg2">
                  <a:lumMod val="25000"/>
                </a:schemeClr>
              </a:buClr>
              <a:buFont typeface="Wingdings" panose="05000000000000000000" pitchFamily="2" charset="2"/>
              <a:buChar char="§"/>
            </a:pPr>
            <a:r>
              <a:rPr lang="en-US" sz="1800" dirty="0">
                <a:latin typeface="Calibri" panose="020F0502020204030204" pitchFamily="34" charset="0"/>
                <a:cs typeface="Calibri" panose="020F0502020204030204" pitchFamily="34" charset="0"/>
              </a:rPr>
              <a:t>We develop a platform on which a customer may launch their own online e-commerce site.</a:t>
            </a:r>
          </a:p>
          <a:p>
            <a:pPr marL="285750" indent="-285750" algn="just">
              <a:lnSpc>
                <a:spcPct val="150000"/>
              </a:lnSpc>
              <a:buClr>
                <a:schemeClr val="bg2">
                  <a:lumMod val="25000"/>
                </a:schemeClr>
              </a:buClr>
              <a:buFont typeface="Wingdings" panose="05000000000000000000" pitchFamily="2" charset="2"/>
              <a:buChar char="§"/>
            </a:pPr>
            <a:r>
              <a:rPr lang="en-US" sz="1800" dirty="0">
                <a:latin typeface="Calibri" panose="020F0502020204030204" pitchFamily="34" charset="0"/>
                <a:cs typeface="Calibri" panose="020F0502020204030204" pitchFamily="34" charset="0"/>
              </a:rPr>
              <a:t>Users may browse shops based on their location and purchase things from their favorite stores.</a:t>
            </a:r>
          </a:p>
        </p:txBody>
      </p:sp>
    </p:spTree>
    <p:extLst>
      <p:ext uri="{BB962C8B-B14F-4D97-AF65-F5344CB8AC3E}">
        <p14:creationId xmlns:p14="http://schemas.microsoft.com/office/powerpoint/2010/main" val="9772341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07</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BLOCK DIAGRAM</a:t>
            </a:r>
            <a:endParaRPr lang="en-IN" sz="3200" dirty="0">
              <a:solidFill>
                <a:srgbClr val="002060"/>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E76F5FF-3A8A-ED27-79D9-8DFF12E3F4B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829443" y="1246626"/>
            <a:ext cx="8533111" cy="5091643"/>
          </a:xfrm>
          <a:prstGeom prst="rect">
            <a:avLst/>
          </a:prstGeom>
        </p:spPr>
      </p:pic>
    </p:spTree>
    <p:extLst>
      <p:ext uri="{BB962C8B-B14F-4D97-AF65-F5344CB8AC3E}">
        <p14:creationId xmlns:p14="http://schemas.microsoft.com/office/powerpoint/2010/main" val="18574709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08</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ADVANTAGES</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508069" y="2203380"/>
            <a:ext cx="7445828" cy="2126864"/>
          </a:xfrm>
          <a:prstGeom prst="rect">
            <a:avLst/>
          </a:prstGeom>
          <a:noFill/>
        </p:spPr>
        <p:txBody>
          <a:bodyPr wrap="square" rtlCol="0">
            <a:spAutoFit/>
          </a:bodyPr>
          <a:lstStyle/>
          <a:p>
            <a:pPr marL="285750" indent="-285750" algn="just">
              <a:lnSpc>
                <a:spcPct val="150000"/>
              </a:lnSpc>
              <a:buClr>
                <a:schemeClr val="bg2">
                  <a:lumMod val="25000"/>
                </a:schemeClr>
              </a:buClr>
              <a:buFont typeface="Wingdings" panose="05000000000000000000" pitchFamily="2" charset="2"/>
              <a:buChar char="ü"/>
            </a:pPr>
            <a:r>
              <a:rPr lang="en-US" sz="1800" dirty="0">
                <a:latin typeface="Calibri" panose="020F0502020204030204" pitchFamily="34" charset="0"/>
                <a:cs typeface="Calibri" panose="020F0502020204030204" pitchFamily="34" charset="0"/>
              </a:rPr>
              <a:t>We can buy from trustworthy or well-known stores.</a:t>
            </a:r>
          </a:p>
          <a:p>
            <a:pPr marL="285750" indent="-285750" algn="just">
              <a:lnSpc>
                <a:spcPct val="150000"/>
              </a:lnSpc>
              <a:buClr>
                <a:schemeClr val="bg2">
                  <a:lumMod val="25000"/>
                </a:schemeClr>
              </a:buClr>
              <a:buFont typeface="Wingdings" panose="05000000000000000000" pitchFamily="2" charset="2"/>
              <a:buChar char="ü"/>
            </a:pPr>
            <a:r>
              <a:rPr lang="en-US" sz="1800" dirty="0">
                <a:latin typeface="Calibri" panose="020F0502020204030204" pitchFamily="34" charset="0"/>
                <a:cs typeface="Calibri" panose="020F0502020204030204" pitchFamily="34" charset="0"/>
              </a:rPr>
              <a:t>Because the business is close to our home, we can go there and question the owner if any of the products are of bad quality.</a:t>
            </a:r>
          </a:p>
          <a:p>
            <a:pPr marL="285750" indent="-285750" algn="just">
              <a:lnSpc>
                <a:spcPct val="150000"/>
              </a:lnSpc>
              <a:buClr>
                <a:schemeClr val="bg2">
                  <a:lumMod val="25000"/>
                </a:schemeClr>
              </a:buClr>
              <a:buFont typeface="Wingdings" panose="05000000000000000000" pitchFamily="2" charset="2"/>
              <a:buChar char="ü"/>
            </a:pPr>
            <a:r>
              <a:rPr lang="en-US" sz="1800" dirty="0">
                <a:latin typeface="Calibri" panose="020F0502020204030204" pitchFamily="34" charset="0"/>
                <a:cs typeface="Calibri" panose="020F0502020204030204" pitchFamily="34" charset="0"/>
              </a:rPr>
              <a:t>Shipping fees are low.</a:t>
            </a:r>
          </a:p>
          <a:p>
            <a:pPr marL="285750" indent="-285750" algn="just">
              <a:lnSpc>
                <a:spcPct val="150000"/>
              </a:lnSpc>
              <a:buClr>
                <a:schemeClr val="bg2">
                  <a:lumMod val="25000"/>
                </a:schemeClr>
              </a:buClr>
              <a:buFont typeface="Wingdings" panose="05000000000000000000" pitchFamily="2" charset="2"/>
              <a:buChar char="ü"/>
            </a:pPr>
            <a:r>
              <a:rPr lang="en-US" sz="1800" dirty="0">
                <a:latin typeface="Calibri" panose="020F0502020204030204" pitchFamily="34" charset="0"/>
                <a:cs typeface="Calibri" panose="020F0502020204030204" pitchFamily="34" charset="0"/>
              </a:rPr>
              <a:t>There is no delivery delay.</a:t>
            </a: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064242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09</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SOFTWARE REQUIREMENT</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CEE22EFF-FEF0-2830-53DC-79D5A424A36B}"/>
              </a:ext>
            </a:extLst>
          </p:cNvPr>
          <p:cNvSpPr txBox="1"/>
          <p:nvPr/>
        </p:nvSpPr>
        <p:spPr>
          <a:xfrm>
            <a:off x="4521664" y="2102712"/>
            <a:ext cx="1788254" cy="2957861"/>
          </a:xfrm>
          <a:prstGeom prst="rect">
            <a:avLst/>
          </a:prstGeom>
          <a:noFill/>
        </p:spPr>
        <p:txBody>
          <a:bodyPr wrap="square" rtlCol="0">
            <a:spAutoFit/>
          </a:bodyPr>
          <a:lstStyle/>
          <a:p>
            <a:pPr marL="285750" indent="-285750" algn="just">
              <a:lnSpc>
                <a:spcPct val="150000"/>
              </a:lnSpc>
              <a:buClr>
                <a:schemeClr val="bg2">
                  <a:lumMod val="25000"/>
                </a:schemeClr>
              </a:buClr>
              <a:buFont typeface="Wingdings" panose="05000000000000000000" pitchFamily="2" charset="2"/>
              <a:buChar char="Ø"/>
            </a:pPr>
            <a:r>
              <a:rPr lang="en-US" dirty="0">
                <a:latin typeface="Calibri" panose="020F0502020204030204" pitchFamily="34" charset="0"/>
                <a:cs typeface="Calibri" panose="020F0502020204030204" pitchFamily="34" charset="0"/>
              </a:rPr>
              <a:t>HTML</a:t>
            </a:r>
          </a:p>
          <a:p>
            <a:pPr marL="285750" indent="-285750" algn="just">
              <a:lnSpc>
                <a:spcPct val="150000"/>
              </a:lnSpc>
              <a:buClr>
                <a:schemeClr val="bg2">
                  <a:lumMod val="25000"/>
                </a:schemeClr>
              </a:buClr>
              <a:buFont typeface="Wingdings" panose="05000000000000000000" pitchFamily="2" charset="2"/>
              <a:buChar char="Ø"/>
            </a:pPr>
            <a:r>
              <a:rPr lang="en-US" dirty="0">
                <a:latin typeface="Calibri" panose="020F0502020204030204" pitchFamily="34" charset="0"/>
                <a:cs typeface="Calibri" panose="020F0502020204030204" pitchFamily="34" charset="0"/>
              </a:rPr>
              <a:t>CSS</a:t>
            </a:r>
          </a:p>
          <a:p>
            <a:pPr marL="285750" indent="-285750" algn="just">
              <a:lnSpc>
                <a:spcPct val="150000"/>
              </a:lnSpc>
              <a:buClr>
                <a:schemeClr val="bg2">
                  <a:lumMod val="25000"/>
                </a:schemeClr>
              </a:buClr>
              <a:buFont typeface="Wingdings" panose="05000000000000000000" pitchFamily="2" charset="2"/>
              <a:buChar char="Ø"/>
            </a:pPr>
            <a:r>
              <a:rPr lang="en-US" dirty="0">
                <a:latin typeface="Calibri" panose="020F0502020204030204" pitchFamily="34" charset="0"/>
                <a:cs typeface="Calibri" panose="020F0502020204030204" pitchFamily="34" charset="0"/>
              </a:rPr>
              <a:t>JavaScript</a:t>
            </a:r>
          </a:p>
          <a:p>
            <a:pPr marL="285750" indent="-285750" algn="just">
              <a:lnSpc>
                <a:spcPct val="150000"/>
              </a:lnSpc>
              <a:buClr>
                <a:schemeClr val="bg2">
                  <a:lumMod val="25000"/>
                </a:schemeClr>
              </a:buClr>
              <a:buFont typeface="Wingdings" panose="05000000000000000000" pitchFamily="2" charset="2"/>
              <a:buChar char="Ø"/>
            </a:pPr>
            <a:r>
              <a:rPr lang="en-US" dirty="0">
                <a:latin typeface="Calibri" panose="020F0502020204030204" pitchFamily="34" charset="0"/>
                <a:cs typeface="Calibri" panose="020F0502020204030204" pitchFamily="34" charset="0"/>
              </a:rPr>
              <a:t>NodeJS</a:t>
            </a:r>
          </a:p>
          <a:p>
            <a:pPr marL="285750" indent="-285750" algn="just">
              <a:lnSpc>
                <a:spcPct val="150000"/>
              </a:lnSpc>
              <a:buClr>
                <a:schemeClr val="bg2">
                  <a:lumMod val="25000"/>
                </a:schemeClr>
              </a:buClr>
              <a:buFont typeface="Wingdings" panose="05000000000000000000" pitchFamily="2" charset="2"/>
              <a:buChar char="Ø"/>
            </a:pPr>
            <a:r>
              <a:rPr lang="en-US" dirty="0">
                <a:latin typeface="Calibri" panose="020F0502020204030204" pitchFamily="34" charset="0"/>
                <a:cs typeface="Calibri" panose="020F0502020204030204" pitchFamily="34" charset="0"/>
              </a:rPr>
              <a:t>Express</a:t>
            </a:r>
          </a:p>
          <a:p>
            <a:pPr marL="285750" indent="-285750" algn="just">
              <a:lnSpc>
                <a:spcPct val="150000"/>
              </a:lnSpc>
              <a:buClr>
                <a:schemeClr val="bg2">
                  <a:lumMod val="25000"/>
                </a:schemeClr>
              </a:buClr>
              <a:buFont typeface="Wingdings" panose="05000000000000000000" pitchFamily="2" charset="2"/>
              <a:buChar char="Ø"/>
            </a:pPr>
            <a:r>
              <a:rPr lang="en-US" dirty="0">
                <a:latin typeface="Calibri" panose="020F0502020204030204" pitchFamily="34" charset="0"/>
                <a:cs typeface="Calibri" panose="020F0502020204030204" pitchFamily="34" charset="0"/>
              </a:rPr>
              <a:t>VS Code</a:t>
            </a:r>
          </a:p>
          <a:p>
            <a:pPr marL="285750" indent="-285750" algn="just">
              <a:lnSpc>
                <a:spcPct val="150000"/>
              </a:lnSpc>
              <a:buClr>
                <a:schemeClr val="bg2">
                  <a:lumMod val="25000"/>
                </a:schemeClr>
              </a:buClr>
              <a:buFont typeface="Wingdings" panose="05000000000000000000" pitchFamily="2" charset="2"/>
              <a:buChar char="Ø"/>
            </a:pPr>
            <a:r>
              <a:rPr lang="en-US" dirty="0">
                <a:latin typeface="Calibri" panose="020F0502020204030204" pitchFamily="34" charset="0"/>
                <a:cs typeface="Calibri" panose="020F0502020204030204" pitchFamily="34" charset="0"/>
              </a:rPr>
              <a:t>Netlify</a:t>
            </a:r>
            <a:endParaRPr lang="en-IN" dirty="0">
              <a:latin typeface="Calibri" panose="020F0502020204030204" pitchFamily="34" charset="0"/>
              <a:cs typeface="Calibri" panose="020F0502020204030204" pitchFamily="34" charset="0"/>
            </a:endParaRPr>
          </a:p>
        </p:txBody>
      </p:sp>
      <p:sp>
        <p:nvSpPr>
          <p:cNvPr id="5" name="Right Brace 4">
            <a:extLst>
              <a:ext uri="{FF2B5EF4-FFF2-40B4-BE49-F238E27FC236}">
                <a16:creationId xmlns:a16="http://schemas.microsoft.com/office/drawing/2014/main" id="{0DE91303-3E01-C7CC-B58F-B507E981DDC7}"/>
              </a:ext>
            </a:extLst>
          </p:cNvPr>
          <p:cNvSpPr/>
          <p:nvPr/>
        </p:nvSpPr>
        <p:spPr>
          <a:xfrm>
            <a:off x="6207854" y="2265028"/>
            <a:ext cx="102064" cy="939566"/>
          </a:xfrm>
          <a:prstGeom prst="rightBrace">
            <a:avLst/>
          </a:prstGeom>
          <a:ln>
            <a:solidFill>
              <a:schemeClr val="bg2">
                <a:lumMod val="10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IN"/>
          </a:p>
        </p:txBody>
      </p:sp>
      <p:sp>
        <p:nvSpPr>
          <p:cNvPr id="11" name="Right Brace 10">
            <a:extLst>
              <a:ext uri="{FF2B5EF4-FFF2-40B4-BE49-F238E27FC236}">
                <a16:creationId xmlns:a16="http://schemas.microsoft.com/office/drawing/2014/main" id="{23E6EF8D-D6E1-A292-62B9-BA997D8D879A}"/>
              </a:ext>
            </a:extLst>
          </p:cNvPr>
          <p:cNvSpPr/>
          <p:nvPr/>
        </p:nvSpPr>
        <p:spPr>
          <a:xfrm>
            <a:off x="6209951" y="3536900"/>
            <a:ext cx="99967" cy="507002"/>
          </a:xfrm>
          <a:prstGeom prst="rightBrace">
            <a:avLst/>
          </a:prstGeom>
          <a:ln>
            <a:solidFill>
              <a:schemeClr val="bg2">
                <a:lumMod val="10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IN"/>
          </a:p>
        </p:txBody>
      </p:sp>
      <p:sp>
        <p:nvSpPr>
          <p:cNvPr id="12" name="Right Brace 11">
            <a:extLst>
              <a:ext uri="{FF2B5EF4-FFF2-40B4-BE49-F238E27FC236}">
                <a16:creationId xmlns:a16="http://schemas.microsoft.com/office/drawing/2014/main" id="{6A76BA60-EDD2-29E7-8122-91C397494579}"/>
              </a:ext>
            </a:extLst>
          </p:cNvPr>
          <p:cNvSpPr/>
          <p:nvPr/>
        </p:nvSpPr>
        <p:spPr>
          <a:xfrm>
            <a:off x="6202260" y="4349070"/>
            <a:ext cx="99967" cy="147429"/>
          </a:xfrm>
          <a:prstGeom prst="rightBrace">
            <a:avLst/>
          </a:prstGeom>
          <a:ln>
            <a:solidFill>
              <a:schemeClr val="bg2">
                <a:lumMod val="10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IN"/>
          </a:p>
        </p:txBody>
      </p:sp>
      <p:sp>
        <p:nvSpPr>
          <p:cNvPr id="15" name="Right Brace 14">
            <a:extLst>
              <a:ext uri="{FF2B5EF4-FFF2-40B4-BE49-F238E27FC236}">
                <a16:creationId xmlns:a16="http://schemas.microsoft.com/office/drawing/2014/main" id="{649FBE4C-2CA2-F569-8CB2-9E4547C46775}"/>
              </a:ext>
            </a:extLst>
          </p:cNvPr>
          <p:cNvSpPr/>
          <p:nvPr/>
        </p:nvSpPr>
        <p:spPr>
          <a:xfrm>
            <a:off x="6202260" y="4783511"/>
            <a:ext cx="99967" cy="147429"/>
          </a:xfrm>
          <a:prstGeom prst="rightBrace">
            <a:avLst/>
          </a:prstGeom>
          <a:ln>
            <a:solidFill>
              <a:schemeClr val="bg2">
                <a:lumMod val="10000"/>
              </a:schemeClr>
            </a:solidFill>
          </a:ln>
        </p:spPr>
        <p:style>
          <a:lnRef idx="1">
            <a:schemeClr val="accent3"/>
          </a:lnRef>
          <a:fillRef idx="0">
            <a:schemeClr val="accent3"/>
          </a:fillRef>
          <a:effectRef idx="0">
            <a:schemeClr val="accent3"/>
          </a:effectRef>
          <a:fontRef idx="minor">
            <a:schemeClr val="tx1"/>
          </a:fontRef>
        </p:style>
        <p:txBody>
          <a:bodyPr rtlCol="0" anchor="ctr"/>
          <a:lstStyle/>
          <a:p>
            <a:pPr algn="ctr"/>
            <a:endParaRPr lang="en-IN"/>
          </a:p>
        </p:txBody>
      </p:sp>
      <p:sp>
        <p:nvSpPr>
          <p:cNvPr id="16" name="TextBox 15">
            <a:extLst>
              <a:ext uri="{FF2B5EF4-FFF2-40B4-BE49-F238E27FC236}">
                <a16:creationId xmlns:a16="http://schemas.microsoft.com/office/drawing/2014/main" id="{4568E3A7-A6A2-5444-6B29-EA4A27541182}"/>
              </a:ext>
            </a:extLst>
          </p:cNvPr>
          <p:cNvSpPr txBox="1"/>
          <p:nvPr/>
        </p:nvSpPr>
        <p:spPr>
          <a:xfrm>
            <a:off x="6442745" y="2608976"/>
            <a:ext cx="1510018" cy="276999"/>
          </a:xfrm>
          <a:prstGeom prst="rect">
            <a:avLst/>
          </a:prstGeom>
          <a:noFill/>
        </p:spPr>
        <p:txBody>
          <a:bodyPr wrap="square" rtlCol="0">
            <a:spAutoFit/>
          </a:bodyPr>
          <a:lstStyle/>
          <a:p>
            <a:r>
              <a:rPr lang="en-US" sz="1200" dirty="0"/>
              <a:t>Front end</a:t>
            </a:r>
            <a:endParaRPr lang="en-IN" sz="1200" dirty="0"/>
          </a:p>
        </p:txBody>
      </p:sp>
      <p:sp>
        <p:nvSpPr>
          <p:cNvPr id="17" name="TextBox 16">
            <a:extLst>
              <a:ext uri="{FF2B5EF4-FFF2-40B4-BE49-F238E27FC236}">
                <a16:creationId xmlns:a16="http://schemas.microsoft.com/office/drawing/2014/main" id="{F192CDD9-D2CF-5CFC-EB28-61BB5C8BFE45}"/>
              </a:ext>
            </a:extLst>
          </p:cNvPr>
          <p:cNvSpPr txBox="1"/>
          <p:nvPr/>
        </p:nvSpPr>
        <p:spPr>
          <a:xfrm>
            <a:off x="6488187" y="3656679"/>
            <a:ext cx="1510018" cy="276999"/>
          </a:xfrm>
          <a:prstGeom prst="rect">
            <a:avLst/>
          </a:prstGeom>
          <a:noFill/>
        </p:spPr>
        <p:txBody>
          <a:bodyPr wrap="square" rtlCol="0">
            <a:spAutoFit/>
          </a:bodyPr>
          <a:lstStyle/>
          <a:p>
            <a:r>
              <a:rPr lang="en-US" sz="1200" dirty="0"/>
              <a:t>Back end</a:t>
            </a:r>
            <a:endParaRPr lang="en-IN" sz="1200" dirty="0"/>
          </a:p>
        </p:txBody>
      </p:sp>
      <p:sp>
        <p:nvSpPr>
          <p:cNvPr id="18" name="TextBox 17">
            <a:extLst>
              <a:ext uri="{FF2B5EF4-FFF2-40B4-BE49-F238E27FC236}">
                <a16:creationId xmlns:a16="http://schemas.microsoft.com/office/drawing/2014/main" id="{6FFCCE52-B166-E641-FE75-BA81BE693030}"/>
              </a:ext>
            </a:extLst>
          </p:cNvPr>
          <p:cNvSpPr txBox="1"/>
          <p:nvPr/>
        </p:nvSpPr>
        <p:spPr>
          <a:xfrm>
            <a:off x="6442745" y="4275895"/>
            <a:ext cx="1510018" cy="276999"/>
          </a:xfrm>
          <a:prstGeom prst="rect">
            <a:avLst/>
          </a:prstGeom>
          <a:noFill/>
        </p:spPr>
        <p:txBody>
          <a:bodyPr wrap="square" rtlCol="0">
            <a:spAutoFit/>
          </a:bodyPr>
          <a:lstStyle/>
          <a:p>
            <a:r>
              <a:rPr lang="en-US" sz="1200" dirty="0"/>
              <a:t> Code editor</a:t>
            </a:r>
            <a:endParaRPr lang="en-IN" sz="1200" dirty="0"/>
          </a:p>
        </p:txBody>
      </p:sp>
      <p:sp>
        <p:nvSpPr>
          <p:cNvPr id="19" name="TextBox 18">
            <a:extLst>
              <a:ext uri="{FF2B5EF4-FFF2-40B4-BE49-F238E27FC236}">
                <a16:creationId xmlns:a16="http://schemas.microsoft.com/office/drawing/2014/main" id="{34FA0350-2845-CA40-CD85-4B59E8330875}"/>
              </a:ext>
            </a:extLst>
          </p:cNvPr>
          <p:cNvSpPr txBox="1"/>
          <p:nvPr/>
        </p:nvSpPr>
        <p:spPr>
          <a:xfrm>
            <a:off x="6488187" y="4706841"/>
            <a:ext cx="1510018" cy="276999"/>
          </a:xfrm>
          <a:prstGeom prst="rect">
            <a:avLst/>
          </a:prstGeom>
          <a:noFill/>
        </p:spPr>
        <p:txBody>
          <a:bodyPr wrap="square" rtlCol="0">
            <a:spAutoFit/>
          </a:bodyPr>
          <a:lstStyle/>
          <a:p>
            <a:r>
              <a:rPr lang="en-US" sz="1200" dirty="0"/>
              <a:t>to deploy</a:t>
            </a:r>
            <a:endParaRPr lang="en-IN" sz="1200" dirty="0"/>
          </a:p>
        </p:txBody>
      </p:sp>
    </p:spTree>
    <p:extLst>
      <p:ext uri="{BB962C8B-B14F-4D97-AF65-F5344CB8AC3E}">
        <p14:creationId xmlns:p14="http://schemas.microsoft.com/office/powerpoint/2010/main" val="11430284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7777"/>
          </a:xfrm>
          <a:prstGeom prst="rect">
            <a:avLst/>
          </a:prstGeom>
          <a:noFill/>
        </p:spPr>
        <p:txBody>
          <a:bodyPr wrap="square" rtlCol="0">
            <a:spAutoFit/>
          </a:bodyPr>
          <a:lstStyle/>
          <a:p>
            <a:pPr algn="ctr"/>
            <a:r>
              <a:rPr lang="en-US" sz="1400" dirty="0">
                <a:solidFill>
                  <a:schemeClr val="tx1">
                    <a:lumMod val="50000"/>
                    <a:lumOff val="50000"/>
                  </a:schemeClr>
                </a:solidFill>
              </a:rPr>
              <a:t>10</a:t>
            </a:r>
            <a:endParaRPr lang="en-IN" sz="1400" dirty="0">
              <a:solidFill>
                <a:schemeClr val="tx1">
                  <a:lumMod val="50000"/>
                  <a:lumOff val="50000"/>
                </a:schemeClr>
              </a:solidFill>
            </a:endParaRPr>
          </a:p>
        </p:txBody>
      </p:sp>
      <p:sp>
        <p:nvSpPr>
          <p:cNvPr id="2" name="TextBox 1"/>
          <p:cNvSpPr txBox="1"/>
          <p:nvPr/>
        </p:nvSpPr>
        <p:spPr>
          <a:xfrm>
            <a:off x="0" y="661851"/>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PROJECT PLAN</a:t>
            </a:r>
            <a:endParaRPr lang="en-IN" sz="3200" dirty="0">
              <a:solidFill>
                <a:srgbClr val="002060"/>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893963" y="2010433"/>
            <a:ext cx="7445828" cy="2957861"/>
          </a:xfrm>
          <a:prstGeom prst="rect">
            <a:avLst/>
          </a:prstGeom>
          <a:noFill/>
        </p:spPr>
        <p:txBody>
          <a:bodyPr wrap="square" rtlCol="0">
            <a:spAutoFit/>
          </a:bodyPr>
          <a:lstStyle/>
          <a:p>
            <a:pPr marL="285750" indent="-285750" algn="just">
              <a:lnSpc>
                <a:spcPct val="150000"/>
              </a:lnSpc>
              <a:buClr>
                <a:schemeClr val="bg2">
                  <a:lumMod val="25000"/>
                </a:schemeClr>
              </a:buClr>
              <a:buFont typeface="Wingdings" panose="05000000000000000000" pitchFamily="2" charset="2"/>
              <a:buChar char="§"/>
            </a:pPr>
            <a:r>
              <a:rPr lang="en-US" dirty="0">
                <a:latin typeface="Calibri" panose="020F0502020204030204" pitchFamily="34" charset="0"/>
                <a:cs typeface="Calibri" panose="020F0502020204030204" pitchFamily="34" charset="0"/>
              </a:rPr>
              <a:t>Phase-I</a:t>
            </a:r>
          </a:p>
          <a:p>
            <a:pPr marL="342900" indent="-342900" algn="just">
              <a:lnSpc>
                <a:spcPct val="150000"/>
              </a:lnSpc>
              <a:buClr>
                <a:schemeClr val="bg2">
                  <a:lumMod val="25000"/>
                </a:schemeClr>
              </a:buClr>
              <a:buFont typeface="+mj-lt"/>
              <a:buAutoNum type="alphaLcParenR"/>
            </a:pPr>
            <a:r>
              <a:rPr lang="en-US" dirty="0">
                <a:latin typeface="Calibri" panose="020F0502020204030204" pitchFamily="34" charset="0"/>
                <a:cs typeface="Calibri" panose="020F0502020204030204" pitchFamily="34" charset="0"/>
              </a:rPr>
              <a:t>Website development</a:t>
            </a:r>
          </a:p>
          <a:p>
            <a:pPr algn="just">
              <a:lnSpc>
                <a:spcPct val="150000"/>
              </a:lnSpc>
              <a:buClr>
                <a:schemeClr val="bg2">
                  <a:lumMod val="25000"/>
                </a:schemeClr>
              </a:buClr>
            </a:pPr>
            <a:endParaRPr lang="en-US" dirty="0">
              <a:latin typeface="Calibri" panose="020F0502020204030204" pitchFamily="34" charset="0"/>
              <a:cs typeface="Calibri" panose="020F0502020204030204" pitchFamily="34" charset="0"/>
            </a:endParaRPr>
          </a:p>
          <a:p>
            <a:pPr marL="285750" indent="-285750" algn="just">
              <a:lnSpc>
                <a:spcPct val="150000"/>
              </a:lnSpc>
              <a:buClr>
                <a:schemeClr val="bg2">
                  <a:lumMod val="25000"/>
                </a:schemeClr>
              </a:buClr>
              <a:buFont typeface="Wingdings" panose="05000000000000000000" pitchFamily="2" charset="2"/>
              <a:buChar char="§"/>
            </a:pPr>
            <a:r>
              <a:rPr lang="en-US" dirty="0">
                <a:latin typeface="Calibri" panose="020F0502020204030204" pitchFamily="34" charset="0"/>
                <a:cs typeface="Calibri" panose="020F0502020204030204" pitchFamily="34" charset="0"/>
              </a:rPr>
              <a:t>Phase-II</a:t>
            </a:r>
          </a:p>
          <a:p>
            <a:pPr marL="342900" indent="-342900" algn="just">
              <a:lnSpc>
                <a:spcPct val="150000"/>
              </a:lnSpc>
              <a:buClr>
                <a:schemeClr val="bg2">
                  <a:lumMod val="25000"/>
                </a:schemeClr>
              </a:buClr>
              <a:buFont typeface="+mj-lt"/>
              <a:buAutoNum type="alphaLcParenR"/>
            </a:pPr>
            <a:r>
              <a:rPr lang="en-US" dirty="0">
                <a:latin typeface="Calibri" panose="020F0502020204030204" pitchFamily="34" charset="0"/>
                <a:cs typeface="Calibri" panose="020F0502020204030204" pitchFamily="34" charset="0"/>
              </a:rPr>
              <a:t>Sentiment Analysis on user reviews using ML</a:t>
            </a:r>
          </a:p>
          <a:p>
            <a:pPr marL="342900" indent="-342900" algn="just">
              <a:lnSpc>
                <a:spcPct val="150000"/>
              </a:lnSpc>
              <a:buClr>
                <a:schemeClr val="bg2">
                  <a:lumMod val="25000"/>
                </a:schemeClr>
              </a:buClr>
              <a:buFont typeface="+mj-lt"/>
              <a:buAutoNum type="alphaLcParenR"/>
            </a:pPr>
            <a:r>
              <a:rPr lang="en-US" dirty="0">
                <a:latin typeface="Calibri" panose="020F0502020204030204" pitchFamily="34" charset="0"/>
                <a:cs typeface="Calibri" panose="020F0502020204030204" pitchFamily="34" charset="0"/>
              </a:rPr>
              <a:t>Paperwork</a:t>
            </a:r>
          </a:p>
          <a:p>
            <a:pPr algn="just">
              <a:lnSpc>
                <a:spcPct val="150000"/>
              </a:lnSpc>
              <a:buClr>
                <a:schemeClr val="bg2">
                  <a:lumMod val="25000"/>
                </a:schemeClr>
              </a:buClr>
            </a:pPr>
            <a:endParaRPr lang="en-IN"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993758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p:cNvSpPr/>
          <p:nvPr/>
        </p:nvSpPr>
        <p:spPr>
          <a:xfrm>
            <a:off x="0" y="6509857"/>
            <a:ext cx="12191999" cy="348143"/>
          </a:xfrm>
          <a:prstGeom prst="rect">
            <a:avLst/>
          </a:prstGeom>
          <a:solidFill>
            <a:schemeClr val="accent3">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IN"/>
          </a:p>
        </p:txBody>
      </p:sp>
      <p:sp>
        <p:nvSpPr>
          <p:cNvPr id="13" name="TextBox 12"/>
          <p:cNvSpPr txBox="1"/>
          <p:nvPr/>
        </p:nvSpPr>
        <p:spPr>
          <a:xfrm>
            <a:off x="0" y="6550223"/>
            <a:ext cx="12191999" cy="306705"/>
          </a:xfrm>
          <a:prstGeom prst="rect">
            <a:avLst/>
          </a:prstGeom>
          <a:noFill/>
        </p:spPr>
        <p:txBody>
          <a:bodyPr wrap="square" rtlCol="0">
            <a:spAutoFit/>
          </a:bodyPr>
          <a:lstStyle/>
          <a:p>
            <a:pPr algn="ctr"/>
            <a:r>
              <a:rPr lang="en-US" sz="1400" dirty="0">
                <a:solidFill>
                  <a:schemeClr val="tx1">
                    <a:lumMod val="50000"/>
                    <a:lumOff val="50000"/>
                  </a:schemeClr>
                </a:solidFill>
              </a:rPr>
              <a:t>11</a:t>
            </a:r>
            <a:endParaRPr lang="en-IN" sz="1400" dirty="0">
              <a:solidFill>
                <a:schemeClr val="tx1">
                  <a:lumMod val="50000"/>
                  <a:lumOff val="50000"/>
                </a:schemeClr>
              </a:solidFill>
            </a:endParaRPr>
          </a:p>
        </p:txBody>
      </p:sp>
      <p:sp>
        <p:nvSpPr>
          <p:cNvPr id="2" name="TextBox 1"/>
          <p:cNvSpPr txBox="1"/>
          <p:nvPr/>
        </p:nvSpPr>
        <p:spPr>
          <a:xfrm>
            <a:off x="0" y="2692874"/>
            <a:ext cx="12191999" cy="584775"/>
          </a:xfrm>
          <a:prstGeom prst="rect">
            <a:avLst/>
          </a:prstGeom>
          <a:noFill/>
        </p:spPr>
        <p:txBody>
          <a:bodyPr wrap="square" rtlCol="0">
            <a:spAutoFit/>
          </a:bodyPr>
          <a:lstStyle/>
          <a:p>
            <a:pPr algn="ctr"/>
            <a:r>
              <a:rPr lang="en-US" sz="3200" dirty="0">
                <a:solidFill>
                  <a:srgbClr val="002060"/>
                </a:solidFill>
                <a:latin typeface="Times New Roman" panose="02020603050405020304" pitchFamily="18" charset="0"/>
                <a:cs typeface="Times New Roman" panose="02020603050405020304" pitchFamily="18" charset="0"/>
              </a:rPr>
              <a:t>THANKS</a:t>
            </a:r>
            <a:endParaRPr lang="en-IN" sz="32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FunkyShapesVTI">
  <a:themeElements>
    <a:clrScheme name="Custom 15">
      <a:dk1>
        <a:sysClr val="windowText" lastClr="000000"/>
      </a:dk1>
      <a:lt1>
        <a:sysClr val="window" lastClr="FFFFFF"/>
      </a:lt1>
      <a:dk2>
        <a:srgbClr val="2D2D2D"/>
      </a:dk2>
      <a:lt2>
        <a:srgbClr val="F3FFF8"/>
      </a:lt2>
      <a:accent1>
        <a:srgbClr val="FF80BD"/>
      </a:accent1>
      <a:accent2>
        <a:srgbClr val="1EB9D3"/>
      </a:accent2>
      <a:accent3>
        <a:srgbClr val="21C46B"/>
      </a:accent3>
      <a:accent4>
        <a:srgbClr val="EA9600"/>
      </a:accent4>
      <a:accent5>
        <a:srgbClr val="F43B56"/>
      </a:accent5>
      <a:accent6>
        <a:srgbClr val="4B56E8"/>
      </a:accent6>
      <a:hlink>
        <a:srgbClr val="8F61FF"/>
      </a:hlink>
      <a:folHlink>
        <a:srgbClr val="F900A0"/>
      </a:folHlink>
    </a:clrScheme>
    <a:fontScheme name="Source Sans Pro">
      <a:majorFont>
        <a:latin typeface="Source Sans Pro"/>
        <a:ea typeface=""/>
        <a:cs typeface=""/>
      </a:majorFont>
      <a:minorFont>
        <a:latin typeface="Source Sans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Funky shapes</Template>
  <TotalTime>154</TotalTime>
  <Words>601</Words>
  <Application>Microsoft Office PowerPoint</Application>
  <PresentationFormat>Widescreen</PresentationFormat>
  <Paragraphs>86</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Calibri</vt:lpstr>
      <vt:lpstr>Courier New</vt:lpstr>
      <vt:lpstr>Source Sans Pro</vt:lpstr>
      <vt:lpstr>Times New Roman</vt:lpstr>
      <vt:lpstr>Wingdings</vt:lpstr>
      <vt:lpstr>FunkyShapesVTI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NIKHIL REDDY H</dc:creator>
  <cp:lastModifiedBy>NIKHIL REDDY H</cp:lastModifiedBy>
  <cp:revision>21</cp:revision>
  <dcterms:created xsi:type="dcterms:W3CDTF">2022-05-02T01:26:00Z</dcterms:created>
  <dcterms:modified xsi:type="dcterms:W3CDTF">2022-09-05T04:22:52Z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B0E5258AAD8B452FAE635F97D460F091</vt:lpwstr>
  </property>
  <property fmtid="{D5CDD505-2E9C-101B-9397-08002B2CF9AE}" pid="3" name="KSOProductBuildVer">
    <vt:lpwstr>1033-11.2.0.11074</vt:lpwstr>
  </property>
</Properties>
</file>